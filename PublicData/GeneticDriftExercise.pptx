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7" r:id="rId2"/>
    <p:sldId id="278" r:id="rId3"/>
    <p:sldId id="279" r:id="rId4"/>
    <p:sldId id="280" r:id="rId5"/>
    <p:sldId id="282" r:id="rId6"/>
    <p:sldId id="281" r:id="rId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3399"/>
    <a:srgbClr val="FF6600"/>
    <a:srgbClr val="FFCC0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78EB4-9445-4AEA-B4C8-46D0A1E40A34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6E3854-DBA0-428D-BEB1-F712DCB80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511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F2FBE22-9BCD-469B-92BB-23121318B25E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9255D9C-8AB5-48C2-98C2-DAC15E021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47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1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rgbClr val="C00000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1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62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1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1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20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0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86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3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1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5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F015E-CAFB-4D50-BED5-EB0764656672}" type="datetimeFigureOut">
              <a:rPr lang="en-US" smtClean="0"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DCC58-4226-4EBC-88C3-A2A77129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2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What is genetic drift?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/>
              <a:t>Random fluctuations in allele frequency generation-to-generation, due to natural random sampling error.</a:t>
            </a:r>
          </a:p>
          <a:p>
            <a:r>
              <a:rPr lang="en-US" dirty="0"/>
              <a:t>Occurs since populations sizes are finite (contrary to H-W assumptions).</a:t>
            </a:r>
          </a:p>
          <a:p>
            <a:r>
              <a:rPr lang="en-US" dirty="0"/>
              <a:t>Effects are larger in smaller populations.</a:t>
            </a:r>
          </a:p>
        </p:txBody>
      </p:sp>
    </p:spTree>
    <p:extLst>
      <p:ext uri="{BB962C8B-B14F-4D97-AF65-F5344CB8AC3E}">
        <p14:creationId xmlns:p14="http://schemas.microsoft.com/office/powerpoint/2010/main" val="1549058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Genetic drift simulation:</a:t>
            </a:r>
            <a:br>
              <a:rPr lang="en-US" dirty="0"/>
            </a:br>
            <a:r>
              <a:rPr lang="en-US" dirty="0"/>
              <a:t>the scenario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i="1" dirty="0"/>
              <a:t>EIG</a:t>
            </a:r>
            <a:r>
              <a:rPr lang="en-US" dirty="0"/>
              <a:t> gene (</a:t>
            </a:r>
            <a:r>
              <a:rPr lang="en-US" i="1" dirty="0"/>
              <a:t>EVOLUTION IS GREAT</a:t>
            </a:r>
            <a:r>
              <a:rPr lang="en-US" dirty="0"/>
              <a:t>) affects the propensity of students to find evolution a fascinating topic</a:t>
            </a:r>
            <a:r>
              <a:rPr lang="en-US" baseline="30000" dirty="0"/>
              <a:t> *</a:t>
            </a:r>
            <a:r>
              <a:rPr lang="en-US" dirty="0"/>
              <a:t>.</a:t>
            </a:r>
          </a:p>
          <a:p>
            <a:r>
              <a:rPr lang="en-US" dirty="0"/>
              <a:t>There are two known alleles, </a:t>
            </a:r>
            <a:r>
              <a:rPr lang="en-US" i="1" dirty="0"/>
              <a:t>EIG-1</a:t>
            </a:r>
            <a:r>
              <a:rPr lang="en-US" dirty="0"/>
              <a:t> and </a:t>
            </a:r>
            <a:r>
              <a:rPr lang="en-US" i="1" dirty="0"/>
              <a:t>EIG-2</a:t>
            </a:r>
            <a:r>
              <a:rPr lang="en-US" dirty="0"/>
              <a:t>.</a:t>
            </a:r>
          </a:p>
          <a:p>
            <a:r>
              <a:rPr lang="en-US" dirty="0"/>
              <a:t>The frequency of the </a:t>
            </a:r>
            <a:r>
              <a:rPr lang="en-US" i="1" dirty="0"/>
              <a:t>EIG-1</a:t>
            </a:r>
            <a:r>
              <a:rPr lang="en-US" dirty="0"/>
              <a:t> allele in your parents’ generation is exactly 0.30.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96000"/>
            <a:ext cx="1895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aseline="30000" dirty="0"/>
              <a:t>*</a:t>
            </a:r>
            <a:r>
              <a:rPr lang="en-US" sz="2400" dirty="0"/>
              <a:t>  Not really!!</a:t>
            </a:r>
          </a:p>
        </p:txBody>
      </p:sp>
    </p:spTree>
    <p:extLst>
      <p:ext uri="{BB962C8B-B14F-4D97-AF65-F5344CB8AC3E}">
        <p14:creationId xmlns:p14="http://schemas.microsoft.com/office/powerpoint/2010/main" val="4249837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simulation: 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simulate your </a:t>
            </a:r>
            <a:r>
              <a:rPr lang="en-US" i="1" dirty="0"/>
              <a:t>maternally</a:t>
            </a:r>
            <a:r>
              <a:rPr lang="en-US" dirty="0"/>
              <a:t>-inherited allele, take the last digit of your cell phone number: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If it is 1, 2, or 3, your allele is </a:t>
            </a:r>
            <a:r>
              <a:rPr lang="en-US" i="1" dirty="0"/>
              <a:t>EIG-1.</a:t>
            </a:r>
            <a:endParaRPr lang="en-US" dirty="0"/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If it is 4, 5,6, 7, 8, 9, or 0, your allele is </a:t>
            </a:r>
            <a:r>
              <a:rPr lang="en-US" i="1" dirty="0"/>
              <a:t>EIG-2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87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simulation: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simulate your </a:t>
            </a:r>
            <a:r>
              <a:rPr lang="en-US" i="1" dirty="0"/>
              <a:t>paternally</a:t>
            </a:r>
            <a:r>
              <a:rPr lang="en-US" dirty="0"/>
              <a:t>-inherited allele, take the second-to-last digit of your cell phone number: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If it is 1, 2, or 3, your allele is </a:t>
            </a:r>
            <a:r>
              <a:rPr lang="en-US" i="1" dirty="0"/>
              <a:t>EIG-1.</a:t>
            </a:r>
            <a:endParaRPr lang="en-US" dirty="0"/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If it is 4, 5,6, 7, 8, 9, or 0, your allele is </a:t>
            </a:r>
            <a:r>
              <a:rPr lang="en-US" i="1" dirty="0"/>
              <a:t>EIG-2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3581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Simulation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/>
              <a:t>My </a:t>
            </a:r>
            <a:r>
              <a:rPr lang="en-US" i="1" dirty="0"/>
              <a:t>EIG</a:t>
            </a:r>
            <a:r>
              <a:rPr lang="en-US" dirty="0"/>
              <a:t> genotype is: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 </a:t>
            </a:r>
            <a:r>
              <a:rPr lang="en-US" i="1" dirty="0"/>
              <a:t>EIG-1/EIG-1</a:t>
            </a:r>
            <a:endParaRPr lang="en-US" dirty="0"/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 </a:t>
            </a:r>
            <a:r>
              <a:rPr lang="en-US" i="1" dirty="0"/>
              <a:t>EIG-1/EIG-2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 </a:t>
            </a:r>
            <a:r>
              <a:rPr lang="en-US" i="1" dirty="0"/>
              <a:t>EIG-2/EIG-2</a:t>
            </a:r>
          </a:p>
          <a:p>
            <a:pPr marL="57150" indent="0">
              <a:buNone/>
            </a:pPr>
            <a:r>
              <a:rPr lang="en-US" dirty="0"/>
              <a:t>Remember:</a:t>
            </a:r>
          </a:p>
          <a:p>
            <a:pPr marL="5715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5543"/>
              </p:ext>
            </p:extLst>
          </p:nvPr>
        </p:nvGraphicFramePr>
        <p:xfrm>
          <a:off x="1295400" y="3810000"/>
          <a:ext cx="60960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6645659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623977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85855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Maternal</a:t>
                      </a:r>
                      <a:r>
                        <a:rPr lang="en-US" baseline="0" dirty="0"/>
                        <a:t> allele:</a:t>
                      </a:r>
                    </a:p>
                    <a:p>
                      <a:r>
                        <a:rPr lang="en-US" dirty="0"/>
                        <a:t>Cell phone # last 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Paternal allele:</a:t>
                      </a:r>
                    </a:p>
                    <a:p>
                      <a:r>
                        <a:rPr lang="en-US" dirty="0"/>
                        <a:t>Cell phone #</a:t>
                      </a:r>
                      <a:r>
                        <a:rPr lang="en-US" baseline="0" dirty="0"/>
                        <a:t> second-last digit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779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EIG-1/EIG-1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846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EIG-1/EIG-2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4-0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491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EIG-1/EIG-2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78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EIG-2/EIG-2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4-0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113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317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simulation results: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NOTE:  The class frequency for </a:t>
            </a:r>
            <a:r>
              <a:rPr lang="en-US" i="1" dirty="0">
                <a:solidFill>
                  <a:srgbClr val="C00000"/>
                </a:solidFill>
              </a:rPr>
              <a:t>EIG-1</a:t>
            </a:r>
            <a:r>
              <a:rPr lang="en-US" dirty="0">
                <a:solidFill>
                  <a:srgbClr val="C00000"/>
                </a:solidFill>
              </a:rPr>
              <a:t> in Fall 2016 was 0.34, compared to the 0.30 expected from the “parental” generation.</a:t>
            </a:r>
          </a:p>
          <a:p>
            <a:r>
              <a:rPr lang="en-US" dirty="0"/>
              <a:t>If evolution of </a:t>
            </a:r>
            <a:r>
              <a:rPr lang="en-US" i="1" dirty="0"/>
              <a:t>EIG</a:t>
            </a:r>
            <a:r>
              <a:rPr lang="en-US" dirty="0"/>
              <a:t> is completely neutral, what do we </a:t>
            </a:r>
            <a:r>
              <a:rPr lang="en-US" i="1" dirty="0"/>
              <a:t>expect</a:t>
            </a:r>
            <a:r>
              <a:rPr lang="en-US" dirty="0"/>
              <a:t> the frequency of the </a:t>
            </a:r>
            <a:r>
              <a:rPr lang="en-US" i="1" dirty="0"/>
              <a:t>EIG-1</a:t>
            </a:r>
            <a:r>
              <a:rPr lang="en-US" dirty="0"/>
              <a:t> allele to be in our sample?</a:t>
            </a:r>
          </a:p>
          <a:p>
            <a:r>
              <a:rPr lang="en-US" dirty="0"/>
              <a:t>Given the </a:t>
            </a:r>
            <a:r>
              <a:rPr lang="en-US" i="1" dirty="0"/>
              <a:t>actual</a:t>
            </a:r>
            <a:r>
              <a:rPr lang="en-US" dirty="0"/>
              <a:t> frequency of </a:t>
            </a:r>
            <a:r>
              <a:rPr lang="en-US" i="1" dirty="0"/>
              <a:t>EIG-1</a:t>
            </a:r>
            <a:r>
              <a:rPr lang="en-US" dirty="0"/>
              <a:t> in our simulated sample, would we be able to detect weak selection (e.g. </a:t>
            </a:r>
            <a:r>
              <a:rPr lang="en-US" i="1" dirty="0" err="1"/>
              <a:t>hs</a:t>
            </a:r>
            <a:r>
              <a:rPr lang="en-US" dirty="0"/>
              <a:t> = 0.01 for heterozygotes, </a:t>
            </a:r>
            <a:r>
              <a:rPr lang="en-US" i="1" dirty="0"/>
              <a:t>s</a:t>
            </a:r>
            <a:r>
              <a:rPr lang="en-US" dirty="0"/>
              <a:t> = 0.02 for </a:t>
            </a:r>
            <a:r>
              <a:rPr lang="en-US" i="1" dirty="0"/>
              <a:t>EIG-2/EIG-2</a:t>
            </a:r>
            <a:r>
              <a:rPr lang="en-US" dirty="0"/>
              <a:t> homozygotes?</a:t>
            </a:r>
          </a:p>
          <a:p>
            <a:r>
              <a:rPr lang="en-US" dirty="0"/>
              <a:t>Would such a level of selection be effective in overcoming genetic drift?</a:t>
            </a:r>
          </a:p>
        </p:txBody>
      </p:sp>
    </p:spTree>
    <p:extLst>
      <p:ext uri="{BB962C8B-B14F-4D97-AF65-F5344CB8AC3E}">
        <p14:creationId xmlns:p14="http://schemas.microsoft.com/office/powerpoint/2010/main" val="679783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9147</TotalTime>
  <Words>349</Words>
  <Application>Microsoft Office PowerPoint</Application>
  <PresentationFormat>On-screen Show (4:3)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What is genetic drift?</vt:lpstr>
      <vt:lpstr>Genetic drift simulation: the scenario</vt:lpstr>
      <vt:lpstr>The simulation:  part 1</vt:lpstr>
      <vt:lpstr>The simulation: part 2</vt:lpstr>
      <vt:lpstr>Simulation results</vt:lpstr>
      <vt:lpstr>The simulation results:</vt:lpstr>
    </vt:vector>
  </TitlesOfParts>
  <Company>UNC Greensboro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Remington</dc:creator>
  <cp:lastModifiedBy>David Remington</cp:lastModifiedBy>
  <cp:revision>261</cp:revision>
  <cp:lastPrinted>2013-11-21T13:59:09Z</cp:lastPrinted>
  <dcterms:created xsi:type="dcterms:W3CDTF">2013-08-16T18:39:11Z</dcterms:created>
  <dcterms:modified xsi:type="dcterms:W3CDTF">2017-05-16T19:11:03Z</dcterms:modified>
</cp:coreProperties>
</file>