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352" r:id="rId2"/>
    <p:sldId id="351" r:id="rId3"/>
    <p:sldId id="345" r:id="rId4"/>
    <p:sldId id="346" r:id="rId5"/>
    <p:sldId id="347" r:id="rId6"/>
    <p:sldId id="348" r:id="rId7"/>
    <p:sldId id="349" r:id="rId8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C80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71" autoAdjust="0"/>
    <p:restoredTop sz="94660"/>
  </p:normalViewPr>
  <p:slideViewPr>
    <p:cSldViewPr>
      <p:cViewPr varScale="1">
        <p:scale>
          <a:sx n="79" d="100"/>
          <a:sy n="79" d="100"/>
        </p:scale>
        <p:origin x="749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578EB4-9445-4AEA-B4C8-46D0A1E40A34}" type="datetimeFigureOut">
              <a:rPr lang="en-US" smtClean="0"/>
              <a:t>5/16/2017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6E3854-DBA0-428D-BEB1-F712DCB80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5511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1F2FBE22-9BCD-469B-92BB-23121318B25E}" type="datetimeFigureOut">
              <a:rPr lang="en-US" smtClean="0"/>
              <a:t>5/16/2017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9255D9C-8AB5-48C2-98C2-DAC15E021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547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an example data</a:t>
            </a:r>
            <a:r>
              <a:rPr lang="en-US" baseline="0" dirty="0"/>
              <a:t> set.  Data can be analyzed using the </a:t>
            </a:r>
            <a:r>
              <a:rPr lang="en-US" baseline="0" dirty="0" err="1"/>
              <a:t>lm</a:t>
            </a:r>
            <a:r>
              <a:rPr lang="en-US" baseline="0" dirty="0"/>
              <a:t> function in R, with same-sex parent height (</a:t>
            </a:r>
            <a:r>
              <a:rPr lang="en-US" baseline="0" dirty="0" err="1"/>
              <a:t>Ssparent</a:t>
            </a:r>
            <a:r>
              <a:rPr lang="en-US" baseline="0" dirty="0"/>
              <a:t>) and sex as predictors.  To test whether the estimates are significantly different for males and females, one can do analyses with and without the interaction (</a:t>
            </a:r>
            <a:r>
              <a:rPr lang="en-US" baseline="0" dirty="0" err="1"/>
              <a:t>SSparent</a:t>
            </a:r>
            <a:r>
              <a:rPr lang="en-US" baseline="0" dirty="0"/>
              <a:t> x sex) in the model, and use the </a:t>
            </a:r>
            <a:r>
              <a:rPr lang="en-US" baseline="0" dirty="0" err="1"/>
              <a:t>anova</a:t>
            </a:r>
            <a:r>
              <a:rPr lang="en-US" baseline="0" dirty="0"/>
              <a:t> function to compare the two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255D9C-8AB5-48C2-98C2-DAC15E021FF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8207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F015E-CAFB-4D50-BED5-EB0764656672}" type="datetimeFigureOut">
              <a:rPr lang="en-US" smtClean="0"/>
              <a:t>5/16/2017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DCC58-4226-4EBC-88C3-A2A771294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515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  <a:lvl2pPr>
              <a:defRPr>
                <a:solidFill>
                  <a:srgbClr val="C00000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F015E-CAFB-4D50-BED5-EB0764656672}" type="datetimeFigureOut">
              <a:rPr lang="en-US" smtClean="0"/>
              <a:t>5/16/2017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DCC58-4226-4EBC-88C3-A2A771294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710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F015E-CAFB-4D50-BED5-EB0764656672}" type="datetimeFigureOut">
              <a:rPr lang="en-US" smtClean="0"/>
              <a:t>5/16/2017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DCC58-4226-4EBC-88C3-A2A771294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562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F015E-CAFB-4D50-BED5-EB0764656672}" type="datetimeFigureOut">
              <a:rPr lang="en-US" smtClean="0"/>
              <a:t>5/16/2017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DCC58-4226-4EBC-88C3-A2A771294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719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F015E-CAFB-4D50-BED5-EB0764656672}" type="datetimeFigureOut">
              <a:rPr lang="en-US" smtClean="0"/>
              <a:t>5/16/2017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DCC58-4226-4EBC-88C3-A2A771294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418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F015E-CAFB-4D50-BED5-EB0764656672}" type="datetimeFigureOut">
              <a:rPr lang="en-US" smtClean="0"/>
              <a:t>5/16/2017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DCC58-4226-4EBC-88C3-A2A771294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20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F015E-CAFB-4D50-BED5-EB0764656672}" type="datetimeFigureOut">
              <a:rPr lang="en-US" smtClean="0"/>
              <a:t>5/16/2017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DCC58-4226-4EBC-88C3-A2A771294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200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F015E-CAFB-4D50-BED5-EB0764656672}" type="datetimeFigureOut">
              <a:rPr lang="en-US" smtClean="0"/>
              <a:t>5/16/2017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DCC58-4226-4EBC-88C3-A2A771294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286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F015E-CAFB-4D50-BED5-EB0764656672}" type="datetimeFigureOut">
              <a:rPr lang="en-US" smtClean="0"/>
              <a:t>5/16/2017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DCC58-4226-4EBC-88C3-A2A771294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838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F015E-CAFB-4D50-BED5-EB0764656672}" type="datetimeFigureOut">
              <a:rPr lang="en-US" smtClean="0"/>
              <a:t>5/16/2017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DCC58-4226-4EBC-88C3-A2A771294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710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F015E-CAFB-4D50-BED5-EB0764656672}" type="datetimeFigureOut">
              <a:rPr lang="en-US" smtClean="0"/>
              <a:t>5/16/2017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DCC58-4226-4EBC-88C3-A2A771294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752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1F015E-CAFB-4D50-BED5-EB0764656672}" type="datetimeFigureOut">
              <a:rPr lang="en-US" smtClean="0"/>
              <a:t>5/16/2017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3DCC58-4226-4EBC-88C3-A2A771294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82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/>
              <a:t>Narrow-sense heritability (</a:t>
            </a:r>
            <a:r>
              <a:rPr lang="en-US" i="1" dirty="0"/>
              <a:t>h</a:t>
            </a:r>
            <a:r>
              <a:rPr lang="en-US" baseline="30000" dirty="0"/>
              <a:t>2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What fraction of trait variability is </a:t>
            </a:r>
            <a:r>
              <a:rPr lang="en-US" i="1" dirty="0"/>
              <a:t>transmissible</a:t>
            </a:r>
            <a:r>
              <a:rPr lang="en-US" dirty="0"/>
              <a:t>?</a:t>
            </a:r>
          </a:p>
          <a:p>
            <a:r>
              <a:rPr lang="en-US" dirty="0"/>
              <a:t>Excludes effects of dominance (and also epistasis – not directly considered here!).</a:t>
            </a:r>
          </a:p>
          <a:p>
            <a:pPr lvl="1"/>
            <a:r>
              <a:rPr lang="en-US" i="1" dirty="0"/>
              <a:t>V</a:t>
            </a:r>
            <a:r>
              <a:rPr lang="en-US" i="1" baseline="-25000" dirty="0"/>
              <a:t>G</a:t>
            </a:r>
            <a:r>
              <a:rPr lang="en-US" i="1" dirty="0"/>
              <a:t> = V</a:t>
            </a:r>
            <a:r>
              <a:rPr lang="en-US" i="1" baseline="-25000" dirty="0"/>
              <a:t>A</a:t>
            </a:r>
            <a:r>
              <a:rPr lang="en-US" i="1" dirty="0"/>
              <a:t> + V</a:t>
            </a:r>
            <a:r>
              <a:rPr lang="en-US" i="1" baseline="-25000" dirty="0"/>
              <a:t>D</a:t>
            </a:r>
            <a:r>
              <a:rPr lang="en-US" i="1" dirty="0"/>
              <a:t> </a:t>
            </a:r>
            <a:endParaRPr lang="en-US" dirty="0"/>
          </a:p>
          <a:p>
            <a:pPr lvl="1"/>
            <a:r>
              <a:rPr lang="en-US" i="1" dirty="0"/>
              <a:t>h</a:t>
            </a:r>
            <a:r>
              <a:rPr lang="en-US" baseline="30000" dirty="0"/>
              <a:t>2</a:t>
            </a:r>
            <a:r>
              <a:rPr lang="en-US" dirty="0"/>
              <a:t> = </a:t>
            </a:r>
            <a:r>
              <a:rPr lang="en-US" i="1" dirty="0"/>
              <a:t>V</a:t>
            </a:r>
            <a:r>
              <a:rPr lang="en-US" i="1" baseline="-25000" dirty="0"/>
              <a:t>A</a:t>
            </a:r>
            <a:r>
              <a:rPr lang="en-US" dirty="0"/>
              <a:t>/(</a:t>
            </a:r>
            <a:r>
              <a:rPr lang="en-US" i="1" dirty="0"/>
              <a:t> V</a:t>
            </a:r>
            <a:r>
              <a:rPr lang="en-US" i="1" baseline="-25000" dirty="0"/>
              <a:t>A</a:t>
            </a:r>
            <a:r>
              <a:rPr lang="en-US" i="1" dirty="0"/>
              <a:t> + V</a:t>
            </a:r>
            <a:r>
              <a:rPr lang="en-US" i="1" baseline="-25000" dirty="0"/>
              <a:t>D</a:t>
            </a:r>
            <a:r>
              <a:rPr lang="en-US" i="1" dirty="0"/>
              <a:t> + V</a:t>
            </a:r>
            <a:r>
              <a:rPr lang="en-US" i="1" baseline="-25000" dirty="0"/>
              <a:t>E</a:t>
            </a:r>
            <a:r>
              <a:rPr lang="en-US" dirty="0"/>
              <a:t>).</a:t>
            </a:r>
          </a:p>
          <a:p>
            <a:r>
              <a:rPr lang="en-US" dirty="0"/>
              <a:t>Regression coefficient of offspring trait values on parental trait values estimates </a:t>
            </a:r>
            <a:r>
              <a:rPr lang="en-US" i="1" dirty="0"/>
              <a:t>h</a:t>
            </a:r>
            <a:r>
              <a:rPr lang="en-US" baseline="30000" dirty="0"/>
              <a:t>2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Uses </a:t>
            </a:r>
            <a:r>
              <a:rPr lang="en-US" i="1" dirty="0"/>
              <a:t>mid-parent value</a:t>
            </a:r>
            <a:r>
              <a:rPr lang="en-US" dirty="0"/>
              <a:t> (mean of the two parents’ trait values).</a:t>
            </a:r>
          </a:p>
          <a:p>
            <a:pPr lvl="1"/>
            <a:r>
              <a:rPr lang="en-US" dirty="0"/>
              <a:t>Problem:  this will be inflated by effects of shared parent-child environment.</a:t>
            </a:r>
          </a:p>
        </p:txBody>
      </p:sp>
    </p:spTree>
    <p:extLst>
      <p:ext uri="{BB962C8B-B14F-4D97-AF65-F5344CB8AC3E}">
        <p14:creationId xmlns:p14="http://schemas.microsoft.com/office/powerpoint/2010/main" val="2077607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/>
              <a:t>How heritable is human height?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Narrow-sense heritability complication:</a:t>
            </a:r>
          </a:p>
          <a:p>
            <a:pPr lvl="1"/>
            <a:r>
              <a:rPr lang="en-US" dirty="0"/>
              <a:t>Males tend to be both taller and more variable in height than females.</a:t>
            </a:r>
          </a:p>
          <a:p>
            <a:pPr lvl="1"/>
            <a:r>
              <a:rPr lang="en-US" dirty="0"/>
              <a:t>This can lead to further biases in </a:t>
            </a:r>
            <a:r>
              <a:rPr lang="en-US" i="1" dirty="0"/>
              <a:t>h</a:t>
            </a:r>
            <a:r>
              <a:rPr lang="en-US" baseline="30000" dirty="0"/>
              <a:t>2</a:t>
            </a:r>
            <a:r>
              <a:rPr lang="en-US" dirty="0"/>
              <a:t> estimates!</a:t>
            </a:r>
          </a:p>
          <a:p>
            <a:pPr lvl="1"/>
            <a:r>
              <a:rPr lang="en-US" dirty="0"/>
              <a:t>To get around this problem, we can do regressions of offspring height on the height of the same-sex parent.</a:t>
            </a:r>
          </a:p>
          <a:p>
            <a:pPr lvl="1"/>
            <a:r>
              <a:rPr lang="en-US" dirty="0"/>
              <a:t>Since only one parent is being used, the regression coefficient estimates ½ </a:t>
            </a:r>
            <a:r>
              <a:rPr lang="en-US" i="1" dirty="0"/>
              <a:t>h</a:t>
            </a:r>
            <a:r>
              <a:rPr lang="en-US" baseline="30000" dirty="0"/>
              <a:t>2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CAUTION:  These </a:t>
            </a:r>
            <a:r>
              <a:rPr lang="en-US" i="1" dirty="0"/>
              <a:t>h</a:t>
            </a:r>
            <a:r>
              <a:rPr lang="en-US" baseline="30000" dirty="0"/>
              <a:t>2</a:t>
            </a:r>
            <a:r>
              <a:rPr lang="en-US" dirty="0"/>
              <a:t> estimates are </a:t>
            </a:r>
            <a:r>
              <a:rPr lang="en-US" i="1" dirty="0"/>
              <a:t>still</a:t>
            </a:r>
            <a:r>
              <a:rPr lang="en-US" dirty="0"/>
              <a:t> inflated by effects of shared parent-child environment.</a:t>
            </a:r>
          </a:p>
          <a:p>
            <a:pPr lvl="2"/>
            <a:r>
              <a:rPr lang="en-US" dirty="0"/>
              <a:t>This is a problem with heritability estimates in humans in general, so be careful how you interpret these kinds of data!!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607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/>
              <a:t>How heritable is human height?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92500"/>
          </a:bodyPr>
          <a:lstStyle/>
          <a:p>
            <a:r>
              <a:rPr lang="en-US" dirty="0"/>
              <a:t>Let’s collect some data: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Take </a:t>
            </a:r>
            <a:r>
              <a:rPr lang="en-US" i="1" dirty="0"/>
              <a:t>your</a:t>
            </a:r>
            <a:r>
              <a:rPr lang="en-US" dirty="0"/>
              <a:t> height, and convert it into inches.</a:t>
            </a:r>
          </a:p>
          <a:p>
            <a:pPr marL="1371600" lvl="2" indent="-514350"/>
            <a:r>
              <a:rPr lang="en-US" dirty="0"/>
              <a:t>5 feet = 60 inches</a:t>
            </a:r>
          </a:p>
          <a:p>
            <a:pPr marL="1371600" lvl="2" indent="-514350"/>
            <a:r>
              <a:rPr lang="en-US" dirty="0"/>
              <a:t>6 feet = 72 inches</a:t>
            </a:r>
          </a:p>
          <a:p>
            <a:pPr marL="1371600" lvl="2" indent="-514350"/>
            <a:r>
              <a:rPr lang="en-US" dirty="0"/>
              <a:t>Therefore 5’ 4” = 64 inches.</a:t>
            </a:r>
          </a:p>
          <a:p>
            <a:pPr marL="1371600" lvl="2" indent="-514350"/>
            <a:r>
              <a:rPr lang="en-US" dirty="0"/>
              <a:t>6’ 2” = 74 inches, etc.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Do the same with the height of your </a:t>
            </a:r>
            <a:r>
              <a:rPr lang="en-US" i="1" dirty="0"/>
              <a:t>biological</a:t>
            </a:r>
            <a:r>
              <a:rPr lang="en-US" dirty="0"/>
              <a:t> same-sex parent.</a:t>
            </a:r>
          </a:p>
          <a:p>
            <a:pPr marL="1371600" lvl="2" indent="-514350"/>
            <a:r>
              <a:rPr lang="en-US" dirty="0"/>
              <a:t>Your mother’s height if you are female.</a:t>
            </a:r>
          </a:p>
          <a:p>
            <a:pPr marL="1371600" lvl="2" indent="-514350"/>
            <a:r>
              <a:rPr lang="en-US" dirty="0"/>
              <a:t>Your father’s height if you are male.</a:t>
            </a:r>
          </a:p>
          <a:p>
            <a:pPr marL="1371600" lvl="2" indent="-514350"/>
            <a:r>
              <a:rPr lang="en-US" dirty="0"/>
              <a:t>If you don’t know this, you’re not required to participate!</a:t>
            </a:r>
          </a:p>
        </p:txBody>
      </p:sp>
    </p:spTree>
    <p:extLst>
      <p:ext uri="{BB962C8B-B14F-4D97-AF65-F5344CB8AC3E}">
        <p14:creationId xmlns:p14="http://schemas.microsoft.com/office/powerpoint/2010/main" val="3293835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collection item 1 (clicker question)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Are you: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dirty="0"/>
              <a:t>Male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dirty="0"/>
              <a:t>Female</a:t>
            </a:r>
          </a:p>
        </p:txBody>
      </p:sp>
    </p:spTree>
    <p:extLst>
      <p:ext uri="{BB962C8B-B14F-4D97-AF65-F5344CB8AC3E}">
        <p14:creationId xmlns:p14="http://schemas.microsoft.com/office/powerpoint/2010/main" val="2931291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collection item 2 (numeric clicker question)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i="1" dirty="0"/>
              <a:t>your</a:t>
            </a:r>
            <a:r>
              <a:rPr lang="en-US" dirty="0"/>
              <a:t> height in inches?</a:t>
            </a:r>
          </a:p>
        </p:txBody>
      </p:sp>
    </p:spTree>
    <p:extLst>
      <p:ext uri="{BB962C8B-B14F-4D97-AF65-F5344CB8AC3E}">
        <p14:creationId xmlns:p14="http://schemas.microsoft.com/office/powerpoint/2010/main" val="2887737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collection item 3 (numeric clicker question)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height of your </a:t>
            </a:r>
            <a:r>
              <a:rPr lang="en-US" i="1" dirty="0"/>
              <a:t>biological same-sex parent</a:t>
            </a:r>
            <a:r>
              <a:rPr lang="en-US" dirty="0"/>
              <a:t> in inches?</a:t>
            </a:r>
          </a:p>
        </p:txBody>
      </p:sp>
    </p:spTree>
    <p:extLst>
      <p:ext uri="{BB962C8B-B14F-4D97-AF65-F5344CB8AC3E}">
        <p14:creationId xmlns:p14="http://schemas.microsoft.com/office/powerpoint/2010/main" val="1693333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en-US" dirty="0"/>
              <a:t>Class height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3048000" cy="51054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Females are in red</a:t>
            </a:r>
          </a:p>
          <a:p>
            <a:r>
              <a:rPr lang="en-US" sz="2000" dirty="0">
                <a:solidFill>
                  <a:srgbClr val="0070C0"/>
                </a:solidFill>
              </a:rPr>
              <a:t>Males are in blue</a:t>
            </a:r>
          </a:p>
          <a:p>
            <a:r>
              <a:rPr lang="en-US" sz="2000" dirty="0"/>
              <a:t>Slope and male-female differences are both highly significant (</a:t>
            </a:r>
            <a:r>
              <a:rPr lang="en-US" sz="2000" i="1" dirty="0"/>
              <a:t>P</a:t>
            </a:r>
            <a:r>
              <a:rPr lang="en-US" sz="2000" dirty="0"/>
              <a:t>&lt;0.0001)</a:t>
            </a:r>
          </a:p>
          <a:p>
            <a:r>
              <a:rPr lang="en-US" sz="2000" dirty="0"/>
              <a:t>Male and female regression slopes not significantly different (</a:t>
            </a:r>
            <a:r>
              <a:rPr lang="en-US" sz="2000" i="1" dirty="0"/>
              <a:t>b</a:t>
            </a:r>
            <a:r>
              <a:rPr lang="en-US" sz="2000" dirty="0"/>
              <a:t> = 0.412</a:t>
            </a:r>
          </a:p>
          <a:p>
            <a:r>
              <a:rPr lang="en-US" sz="2000" i="1" dirty="0"/>
              <a:t>h</a:t>
            </a:r>
            <a:r>
              <a:rPr lang="en-US" sz="2000" baseline="30000" dirty="0"/>
              <a:t>2</a:t>
            </a:r>
            <a:r>
              <a:rPr lang="en-US" sz="2000" dirty="0"/>
              <a:t> = 2</a:t>
            </a:r>
            <a:r>
              <a:rPr lang="en-US" sz="2000" i="1" dirty="0"/>
              <a:t>b</a:t>
            </a:r>
            <a:r>
              <a:rPr lang="en-US" sz="2000" dirty="0"/>
              <a:t> = </a:t>
            </a:r>
            <a:r>
              <a:rPr lang="en-US" sz="2000" b="1" dirty="0"/>
              <a:t>0.824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229360"/>
            <a:ext cx="5122887" cy="4682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64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5097</TotalTime>
  <Words>441</Words>
  <Application>Microsoft Office PowerPoint</Application>
  <PresentationFormat>On-screen Show (4:3)</PresentationFormat>
  <Paragraphs>43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Narrow-sense heritability (h2)</vt:lpstr>
      <vt:lpstr>How heritable is human height?</vt:lpstr>
      <vt:lpstr>How heritable is human height?</vt:lpstr>
      <vt:lpstr>Data collection item 1 (clicker question)</vt:lpstr>
      <vt:lpstr>Data collection item 2 (numeric clicker question)</vt:lpstr>
      <vt:lpstr>Data collection item 3 (numeric clicker question)</vt:lpstr>
      <vt:lpstr>Class height data</vt:lpstr>
    </vt:vector>
  </TitlesOfParts>
  <Company>UNC Greensboro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Remington</dc:creator>
  <cp:lastModifiedBy>David Remington</cp:lastModifiedBy>
  <cp:revision>162</cp:revision>
  <cp:lastPrinted>2013-11-05T13:53:23Z</cp:lastPrinted>
  <dcterms:created xsi:type="dcterms:W3CDTF">2013-08-16T18:39:11Z</dcterms:created>
  <dcterms:modified xsi:type="dcterms:W3CDTF">2017-05-16T18:56:17Z</dcterms:modified>
</cp:coreProperties>
</file>