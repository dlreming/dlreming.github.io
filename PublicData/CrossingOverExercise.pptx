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318" r:id="rId2"/>
    <p:sldId id="319" r:id="rId3"/>
    <p:sldId id="320" r:id="rId4"/>
    <p:sldId id="321" r:id="rId5"/>
    <p:sldId id="322" r:id="rId6"/>
    <p:sldId id="323" r:id="rId7"/>
    <p:sldId id="324" r:id="rId8"/>
    <p:sldId id="325" r:id="rId9"/>
    <p:sldId id="326" r:id="rId10"/>
    <p:sldId id="327" r:id="rId11"/>
    <p:sldId id="328" r:id="rId12"/>
    <p:sldId id="329" r:id="rId13"/>
    <p:sldId id="330" r:id="rId14"/>
    <p:sldId id="331" r:id="rId15"/>
    <p:sldId id="332" r:id="rId16"/>
    <p:sldId id="333" r:id="rId17"/>
    <p:sldId id="334" r:id="rId18"/>
    <p:sldId id="335" r:id="rId19"/>
    <p:sldId id="336" r:id="rId20"/>
    <p:sldId id="337" r:id="rId21"/>
    <p:sldId id="338" r:id="rId22"/>
    <p:sldId id="339" r:id="rId23"/>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1738" y="25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1F2FBE22-9BCD-469B-92BB-23121318B25E}" type="datetimeFigureOut">
              <a:rPr lang="en-US" smtClean="0"/>
              <a:t>5/16/2017</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B9255D9C-8AB5-48C2-98C2-DAC15E021FF4}" type="slidenum">
              <a:rPr lang="en-US" smtClean="0"/>
              <a:t>‹#›</a:t>
            </a:fld>
            <a:endParaRPr lang="en-US"/>
          </a:p>
        </p:txBody>
      </p:sp>
    </p:spTree>
    <p:extLst>
      <p:ext uri="{BB962C8B-B14F-4D97-AF65-F5344CB8AC3E}">
        <p14:creationId xmlns:p14="http://schemas.microsoft.com/office/powerpoint/2010/main" val="2467547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only simulates one of the two sister chromatids from each homolog, but in terms of gamete formation the process is entirely valid.  The only thing it doesn’t deal with is interference.</a:t>
            </a:r>
            <a:endParaRPr lang="en-US" dirty="0"/>
          </a:p>
        </p:txBody>
      </p:sp>
      <p:sp>
        <p:nvSpPr>
          <p:cNvPr id="4" name="Slide Number Placeholder 3"/>
          <p:cNvSpPr>
            <a:spLocks noGrp="1"/>
          </p:cNvSpPr>
          <p:nvPr>
            <p:ph type="sldNum" sz="quarter" idx="10"/>
          </p:nvPr>
        </p:nvSpPr>
        <p:spPr/>
        <p:txBody>
          <a:bodyPr/>
          <a:lstStyle/>
          <a:p>
            <a:fld id="{B9255D9C-8AB5-48C2-98C2-DAC15E021FF4}" type="slidenum">
              <a:rPr lang="en-US" smtClean="0"/>
              <a:t>1</a:t>
            </a:fld>
            <a:endParaRPr lang="en-US"/>
          </a:p>
        </p:txBody>
      </p:sp>
    </p:spTree>
    <p:extLst>
      <p:ext uri="{BB962C8B-B14F-4D97-AF65-F5344CB8AC3E}">
        <p14:creationId xmlns:p14="http://schemas.microsoft.com/office/powerpoint/2010/main" val="1258702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Generates expected crossover frequency of ~17% between genes </a:t>
            </a:r>
            <a:r>
              <a:rPr lang="en-US" i="1" dirty="0"/>
              <a:t>A</a:t>
            </a:r>
            <a:r>
              <a:rPr lang="en-US" i="0" dirty="0"/>
              <a:t> and </a:t>
            </a:r>
            <a:r>
              <a:rPr lang="en-US" i="1" dirty="0"/>
              <a:t>B</a:t>
            </a:r>
            <a:r>
              <a:rPr lang="en-US" i="0" dirty="0"/>
              <a:t>.</a:t>
            </a:r>
            <a:endParaRPr lang="en-US" dirty="0"/>
          </a:p>
        </p:txBody>
      </p:sp>
      <p:sp>
        <p:nvSpPr>
          <p:cNvPr id="4" name="Slide Number Placeholder 3"/>
          <p:cNvSpPr>
            <a:spLocks noGrp="1"/>
          </p:cNvSpPr>
          <p:nvPr>
            <p:ph type="sldNum" sz="quarter" idx="10"/>
          </p:nvPr>
        </p:nvSpPr>
        <p:spPr/>
        <p:txBody>
          <a:bodyPr/>
          <a:lstStyle/>
          <a:p>
            <a:fld id="{B9255D9C-8AB5-48C2-98C2-DAC15E021FF4}" type="slidenum">
              <a:rPr lang="en-US" smtClean="0"/>
              <a:t>3</a:t>
            </a:fld>
            <a:endParaRPr lang="en-US"/>
          </a:p>
        </p:txBody>
      </p:sp>
    </p:spTree>
    <p:extLst>
      <p:ext uri="{BB962C8B-B14F-4D97-AF65-F5344CB8AC3E}">
        <p14:creationId xmlns:p14="http://schemas.microsoft.com/office/powerpoint/2010/main" val="35778466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Generates an expected crossover frequency of ~20% between</a:t>
            </a:r>
            <a:r>
              <a:rPr lang="en-US" baseline="0" dirty="0"/>
              <a:t> genes </a:t>
            </a:r>
            <a:r>
              <a:rPr lang="en-US" i="1" baseline="0" dirty="0"/>
              <a:t>B</a:t>
            </a:r>
            <a:r>
              <a:rPr lang="en-US" i="0" baseline="0" dirty="0"/>
              <a:t> and </a:t>
            </a:r>
            <a:r>
              <a:rPr lang="en-US" i="1" baseline="0" dirty="0"/>
              <a:t>C</a:t>
            </a:r>
            <a:r>
              <a:rPr lang="en-US" i="0" baseline="0" dirty="0"/>
              <a:t>.  Doing it in this way should make crossovers in the two intervals essentially independent.</a:t>
            </a:r>
            <a:endParaRPr lang="en-US" dirty="0"/>
          </a:p>
        </p:txBody>
      </p:sp>
      <p:sp>
        <p:nvSpPr>
          <p:cNvPr id="4" name="Slide Number Placeholder 3"/>
          <p:cNvSpPr>
            <a:spLocks noGrp="1"/>
          </p:cNvSpPr>
          <p:nvPr>
            <p:ph type="sldNum" sz="quarter" idx="10"/>
          </p:nvPr>
        </p:nvSpPr>
        <p:spPr/>
        <p:txBody>
          <a:bodyPr/>
          <a:lstStyle/>
          <a:p>
            <a:fld id="{B9255D9C-8AB5-48C2-98C2-DAC15E021FF4}" type="slidenum">
              <a:rPr lang="en-US" smtClean="0"/>
              <a:t>4</a:t>
            </a:fld>
            <a:endParaRPr lang="en-US"/>
          </a:p>
        </p:txBody>
      </p:sp>
    </p:spTree>
    <p:extLst>
      <p:ext uri="{BB962C8B-B14F-4D97-AF65-F5344CB8AC3E}">
        <p14:creationId xmlns:p14="http://schemas.microsoft.com/office/powerpoint/2010/main" val="38401085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provides a nice visual illustration of why the two outside genes have parental combinations when a double crossover occurs.</a:t>
            </a:r>
            <a:endParaRPr lang="en-US" dirty="0"/>
          </a:p>
        </p:txBody>
      </p:sp>
      <p:sp>
        <p:nvSpPr>
          <p:cNvPr id="4" name="Slide Number Placeholder 3"/>
          <p:cNvSpPr>
            <a:spLocks noGrp="1"/>
          </p:cNvSpPr>
          <p:nvPr>
            <p:ph type="sldNum" sz="quarter" idx="10"/>
          </p:nvPr>
        </p:nvSpPr>
        <p:spPr/>
        <p:txBody>
          <a:bodyPr/>
          <a:lstStyle/>
          <a:p>
            <a:fld id="{B9255D9C-8AB5-48C2-98C2-DAC15E021FF4}" type="slidenum">
              <a:rPr lang="en-US" smtClean="0"/>
              <a:t>10</a:t>
            </a:fld>
            <a:endParaRPr lang="en-US"/>
          </a:p>
        </p:txBody>
      </p:sp>
    </p:spTree>
    <p:extLst>
      <p:ext uri="{BB962C8B-B14F-4D97-AF65-F5344CB8AC3E}">
        <p14:creationId xmlns:p14="http://schemas.microsoft.com/office/powerpoint/2010/main" val="2007506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we collected</a:t>
            </a:r>
            <a:r>
              <a:rPr lang="en-US" baseline="0" dirty="0"/>
              <a:t> the data using clicker questions, I compiled the data and showed the results in the next lecture (this and following slides).</a:t>
            </a:r>
            <a:endParaRPr lang="en-US" dirty="0"/>
          </a:p>
        </p:txBody>
      </p:sp>
      <p:sp>
        <p:nvSpPr>
          <p:cNvPr id="4" name="Slide Number Placeholder 3"/>
          <p:cNvSpPr>
            <a:spLocks noGrp="1"/>
          </p:cNvSpPr>
          <p:nvPr>
            <p:ph type="sldNum" sz="quarter" idx="10"/>
          </p:nvPr>
        </p:nvSpPr>
        <p:spPr/>
        <p:txBody>
          <a:bodyPr/>
          <a:lstStyle/>
          <a:p>
            <a:fld id="{B9255D9C-8AB5-48C2-98C2-DAC15E021FF4}" type="slidenum">
              <a:rPr lang="en-US" smtClean="0"/>
              <a:t>11</a:t>
            </a:fld>
            <a:endParaRPr lang="en-US"/>
          </a:p>
        </p:txBody>
      </p:sp>
    </p:spTree>
    <p:extLst>
      <p:ext uri="{BB962C8B-B14F-4D97-AF65-F5344CB8AC3E}">
        <p14:creationId xmlns:p14="http://schemas.microsoft.com/office/powerpoint/2010/main" val="265527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and following slides go through calculating map distances and interference using</a:t>
            </a:r>
            <a:r>
              <a:rPr lang="en-US" baseline="0" dirty="0"/>
              <a:t> our simulated data.</a:t>
            </a:r>
            <a:endParaRPr lang="en-US" dirty="0"/>
          </a:p>
        </p:txBody>
      </p:sp>
      <p:sp>
        <p:nvSpPr>
          <p:cNvPr id="4" name="Slide Number Placeholder 3"/>
          <p:cNvSpPr>
            <a:spLocks noGrp="1"/>
          </p:cNvSpPr>
          <p:nvPr>
            <p:ph type="sldNum" sz="quarter" idx="10"/>
          </p:nvPr>
        </p:nvSpPr>
        <p:spPr/>
        <p:txBody>
          <a:bodyPr/>
          <a:lstStyle/>
          <a:p>
            <a:fld id="{B9255D9C-8AB5-48C2-98C2-DAC15E021FF4}" type="slidenum">
              <a:rPr lang="en-US" smtClean="0"/>
              <a:t>14</a:t>
            </a:fld>
            <a:endParaRPr lang="en-US"/>
          </a:p>
        </p:txBody>
      </p:sp>
    </p:spTree>
    <p:extLst>
      <p:ext uri="{BB962C8B-B14F-4D97-AF65-F5344CB8AC3E}">
        <p14:creationId xmlns:p14="http://schemas.microsoft.com/office/powerpoint/2010/main" val="1479655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a:t>
            </a:r>
            <a:r>
              <a:rPr lang="en-US" baseline="0" dirty="0"/>
              <a:t> are slightly different from those on previous slides because not all the same students responded with their </a:t>
            </a:r>
            <a:r>
              <a:rPr lang="en-US" baseline="0" dirty="0" err="1"/>
              <a:t>i</a:t>
            </a:r>
            <a:r>
              <a:rPr lang="en-US" baseline="0" dirty="0"/>
              <a:t>-clickers this time around.</a:t>
            </a:r>
            <a:endParaRPr lang="en-US" dirty="0"/>
          </a:p>
        </p:txBody>
      </p:sp>
      <p:sp>
        <p:nvSpPr>
          <p:cNvPr id="4" name="Slide Number Placeholder 3"/>
          <p:cNvSpPr>
            <a:spLocks noGrp="1"/>
          </p:cNvSpPr>
          <p:nvPr>
            <p:ph type="sldNum" sz="quarter" idx="10"/>
          </p:nvPr>
        </p:nvSpPr>
        <p:spPr/>
        <p:txBody>
          <a:bodyPr/>
          <a:lstStyle/>
          <a:p>
            <a:fld id="{B9255D9C-8AB5-48C2-98C2-DAC15E021FF4}" type="slidenum">
              <a:rPr lang="en-US" smtClean="0"/>
              <a:t>15</a:t>
            </a:fld>
            <a:endParaRPr lang="en-US"/>
          </a:p>
        </p:txBody>
      </p:sp>
    </p:spTree>
    <p:extLst>
      <p:ext uri="{BB962C8B-B14F-4D97-AF65-F5344CB8AC3E}">
        <p14:creationId xmlns:p14="http://schemas.microsoft.com/office/powerpoint/2010/main" val="26908918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 experimental setup wasn’t designed to generate</a:t>
            </a:r>
            <a:r>
              <a:rPr lang="en-US" baseline="0" dirty="0"/>
              <a:t> interference, so the expected value of I is zero.  This still illustrates the calculation, and we discussed the simplifying assumption of no interference in class.</a:t>
            </a:r>
            <a:endParaRPr lang="en-US" dirty="0"/>
          </a:p>
        </p:txBody>
      </p:sp>
      <p:sp>
        <p:nvSpPr>
          <p:cNvPr id="4" name="Slide Number Placeholder 3"/>
          <p:cNvSpPr>
            <a:spLocks noGrp="1"/>
          </p:cNvSpPr>
          <p:nvPr>
            <p:ph type="sldNum" sz="quarter" idx="10"/>
          </p:nvPr>
        </p:nvSpPr>
        <p:spPr/>
        <p:txBody>
          <a:bodyPr/>
          <a:lstStyle/>
          <a:p>
            <a:fld id="{B9255D9C-8AB5-48C2-98C2-DAC15E021FF4}" type="slidenum">
              <a:rPr lang="en-US" smtClean="0"/>
              <a:t>21</a:t>
            </a:fld>
            <a:endParaRPr lang="en-US"/>
          </a:p>
        </p:txBody>
      </p:sp>
    </p:spTree>
    <p:extLst>
      <p:ext uri="{BB962C8B-B14F-4D97-AF65-F5344CB8AC3E}">
        <p14:creationId xmlns:p14="http://schemas.microsoft.com/office/powerpoint/2010/main" val="22909200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F1F015E-CAFB-4D50-BED5-EB0764656672}" type="datetimeFigureOut">
              <a:rPr lang="en-US" smtClean="0"/>
              <a:t>5/16/2017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3DCC58-4226-4EBC-88C3-A2A7712941F6}" type="slidenum">
              <a:rPr lang="en-US" smtClean="0"/>
              <a:t>‹#›</a:t>
            </a:fld>
            <a:endParaRPr lang="en-US"/>
          </a:p>
        </p:txBody>
      </p:sp>
    </p:spTree>
    <p:extLst>
      <p:ext uri="{BB962C8B-B14F-4D97-AF65-F5344CB8AC3E}">
        <p14:creationId xmlns:p14="http://schemas.microsoft.com/office/powerpoint/2010/main" val="3730515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lumMod val="50000"/>
                  </a:schemeClr>
                </a:solidFill>
              </a:defRPr>
            </a:lvl1pPr>
          </a:lstStyle>
          <a:p>
            <a:r>
              <a:rPr lang="en-US" dirty="0"/>
              <a:t>Click to edit Master title style</a:t>
            </a:r>
          </a:p>
        </p:txBody>
      </p:sp>
      <p:sp>
        <p:nvSpPr>
          <p:cNvPr id="3" name="Content Placeholder 2"/>
          <p:cNvSpPr>
            <a:spLocks noGrp="1"/>
          </p:cNvSpPr>
          <p:nvPr>
            <p:ph idx="1"/>
          </p:nvPr>
        </p:nvSpPr>
        <p:spPr/>
        <p:txBody>
          <a:bodyPr/>
          <a:lstStyle>
            <a:lvl2pPr>
              <a:defRPr>
                <a:solidFill>
                  <a:schemeClr val="tx2"/>
                </a:solidFill>
              </a:defRPr>
            </a:lvl2pPr>
            <a:lvl3pPr>
              <a:defRPr>
                <a:solidFill>
                  <a:srgbClr val="C00000"/>
                </a:solidFill>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F1F015E-CAFB-4D50-BED5-EB0764656672}" type="datetimeFigureOut">
              <a:rPr lang="en-US" smtClean="0"/>
              <a:t>5/16/2017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3DCC58-4226-4EBC-88C3-A2A7712941F6}" type="slidenum">
              <a:rPr lang="en-US" smtClean="0"/>
              <a:t>‹#›</a:t>
            </a:fld>
            <a:endParaRPr lang="en-US"/>
          </a:p>
        </p:txBody>
      </p:sp>
    </p:spTree>
    <p:extLst>
      <p:ext uri="{BB962C8B-B14F-4D97-AF65-F5344CB8AC3E}">
        <p14:creationId xmlns:p14="http://schemas.microsoft.com/office/powerpoint/2010/main" val="618710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1F015E-CAFB-4D50-BED5-EB0764656672}" type="datetimeFigureOut">
              <a:rPr lang="en-US" smtClean="0"/>
              <a:t>5/16/2017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3DCC58-4226-4EBC-88C3-A2A7712941F6}" type="slidenum">
              <a:rPr lang="en-US" smtClean="0"/>
              <a:t>‹#›</a:t>
            </a:fld>
            <a:endParaRPr lang="en-US"/>
          </a:p>
        </p:txBody>
      </p:sp>
    </p:spTree>
    <p:extLst>
      <p:ext uri="{BB962C8B-B14F-4D97-AF65-F5344CB8AC3E}">
        <p14:creationId xmlns:p14="http://schemas.microsoft.com/office/powerpoint/2010/main" val="1131562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F1F015E-CAFB-4D50-BED5-EB0764656672}" type="datetimeFigureOut">
              <a:rPr lang="en-US" smtClean="0"/>
              <a:t>5/16/2017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3DCC58-4226-4EBC-88C3-A2A7712941F6}" type="slidenum">
              <a:rPr lang="en-US" smtClean="0"/>
              <a:t>‹#›</a:t>
            </a:fld>
            <a:endParaRPr lang="en-US"/>
          </a:p>
        </p:txBody>
      </p:sp>
    </p:spTree>
    <p:extLst>
      <p:ext uri="{BB962C8B-B14F-4D97-AF65-F5344CB8AC3E}">
        <p14:creationId xmlns:p14="http://schemas.microsoft.com/office/powerpoint/2010/main" val="1473719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F1F015E-CAFB-4D50-BED5-EB0764656672}" type="datetimeFigureOut">
              <a:rPr lang="en-US" smtClean="0"/>
              <a:t>5/16/2017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3DCC58-4226-4EBC-88C3-A2A7712941F6}" type="slidenum">
              <a:rPr lang="en-US" smtClean="0"/>
              <a:t>‹#›</a:t>
            </a:fld>
            <a:endParaRPr lang="en-US"/>
          </a:p>
        </p:txBody>
      </p:sp>
    </p:spTree>
    <p:extLst>
      <p:ext uri="{BB962C8B-B14F-4D97-AF65-F5344CB8AC3E}">
        <p14:creationId xmlns:p14="http://schemas.microsoft.com/office/powerpoint/2010/main" val="459418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F1F015E-CAFB-4D50-BED5-EB0764656672}" type="datetimeFigureOut">
              <a:rPr lang="en-US" smtClean="0"/>
              <a:t>5/16/2017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3DCC58-4226-4EBC-88C3-A2A7712941F6}" type="slidenum">
              <a:rPr lang="en-US" smtClean="0"/>
              <a:t>‹#›</a:t>
            </a:fld>
            <a:endParaRPr lang="en-US"/>
          </a:p>
        </p:txBody>
      </p:sp>
    </p:spTree>
    <p:extLst>
      <p:ext uri="{BB962C8B-B14F-4D97-AF65-F5344CB8AC3E}">
        <p14:creationId xmlns:p14="http://schemas.microsoft.com/office/powerpoint/2010/main" val="282520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1F015E-CAFB-4D50-BED5-EB0764656672}" type="datetimeFigureOut">
              <a:rPr lang="en-US" smtClean="0"/>
              <a:t>5/16/2017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3DCC58-4226-4EBC-88C3-A2A7712941F6}" type="slidenum">
              <a:rPr lang="en-US" smtClean="0"/>
              <a:t>‹#›</a:t>
            </a:fld>
            <a:endParaRPr lang="en-US"/>
          </a:p>
        </p:txBody>
      </p:sp>
    </p:spTree>
    <p:extLst>
      <p:ext uri="{BB962C8B-B14F-4D97-AF65-F5344CB8AC3E}">
        <p14:creationId xmlns:p14="http://schemas.microsoft.com/office/powerpoint/2010/main" val="2166200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1F015E-CAFB-4D50-BED5-EB0764656672}" type="datetimeFigureOut">
              <a:rPr lang="en-US" smtClean="0"/>
              <a:t>5/16/2017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3DCC58-4226-4EBC-88C3-A2A7712941F6}" type="slidenum">
              <a:rPr lang="en-US" smtClean="0"/>
              <a:t>‹#›</a:t>
            </a:fld>
            <a:endParaRPr lang="en-US"/>
          </a:p>
        </p:txBody>
      </p:sp>
    </p:spTree>
    <p:extLst>
      <p:ext uri="{BB962C8B-B14F-4D97-AF65-F5344CB8AC3E}">
        <p14:creationId xmlns:p14="http://schemas.microsoft.com/office/powerpoint/2010/main" val="4095286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1F015E-CAFB-4D50-BED5-EB0764656672}" type="datetimeFigureOut">
              <a:rPr lang="en-US" smtClean="0"/>
              <a:t>5/16/2017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3DCC58-4226-4EBC-88C3-A2A7712941F6}" type="slidenum">
              <a:rPr lang="en-US" smtClean="0"/>
              <a:t>‹#›</a:t>
            </a:fld>
            <a:endParaRPr lang="en-US"/>
          </a:p>
        </p:txBody>
      </p:sp>
    </p:spTree>
    <p:extLst>
      <p:ext uri="{BB962C8B-B14F-4D97-AF65-F5344CB8AC3E}">
        <p14:creationId xmlns:p14="http://schemas.microsoft.com/office/powerpoint/2010/main" val="1466838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1F015E-CAFB-4D50-BED5-EB0764656672}" type="datetimeFigureOut">
              <a:rPr lang="en-US" smtClean="0"/>
              <a:t>5/16/2017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3DCC58-4226-4EBC-88C3-A2A7712941F6}" type="slidenum">
              <a:rPr lang="en-US" smtClean="0"/>
              <a:t>‹#›</a:t>
            </a:fld>
            <a:endParaRPr lang="en-US"/>
          </a:p>
        </p:txBody>
      </p:sp>
    </p:spTree>
    <p:extLst>
      <p:ext uri="{BB962C8B-B14F-4D97-AF65-F5344CB8AC3E}">
        <p14:creationId xmlns:p14="http://schemas.microsoft.com/office/powerpoint/2010/main" val="1854710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1F015E-CAFB-4D50-BED5-EB0764656672}" type="datetimeFigureOut">
              <a:rPr lang="en-US" smtClean="0"/>
              <a:t>5/16/2017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3DCC58-4226-4EBC-88C3-A2A7712941F6}" type="slidenum">
              <a:rPr lang="en-US" smtClean="0"/>
              <a:t>‹#›</a:t>
            </a:fld>
            <a:endParaRPr lang="en-US"/>
          </a:p>
        </p:txBody>
      </p:sp>
    </p:spTree>
    <p:extLst>
      <p:ext uri="{BB962C8B-B14F-4D97-AF65-F5344CB8AC3E}">
        <p14:creationId xmlns:p14="http://schemas.microsoft.com/office/powerpoint/2010/main" val="3059752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1F015E-CAFB-4D50-BED5-EB0764656672}" type="datetimeFigureOut">
              <a:rPr lang="en-US" smtClean="0"/>
              <a:t>5/16/2017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3DCC58-4226-4EBC-88C3-A2A7712941F6}" type="slidenum">
              <a:rPr lang="en-US" smtClean="0"/>
              <a:t>‹#›</a:t>
            </a:fld>
            <a:endParaRPr lang="en-US"/>
          </a:p>
        </p:txBody>
      </p:sp>
    </p:spTree>
    <p:extLst>
      <p:ext uri="{BB962C8B-B14F-4D97-AF65-F5344CB8AC3E}">
        <p14:creationId xmlns:p14="http://schemas.microsoft.com/office/powerpoint/2010/main" val="623825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Crossing over/gamete formation exercise</a:t>
            </a:r>
          </a:p>
        </p:txBody>
      </p:sp>
      <p:sp>
        <p:nvSpPr>
          <p:cNvPr id="3" name="Content Placeholder 2"/>
          <p:cNvSpPr>
            <a:spLocks noGrp="1"/>
          </p:cNvSpPr>
          <p:nvPr>
            <p:ph idx="1"/>
          </p:nvPr>
        </p:nvSpPr>
        <p:spPr>
          <a:xfrm>
            <a:off x="457200" y="1600200"/>
            <a:ext cx="3810000" cy="4525963"/>
          </a:xfrm>
        </p:spPr>
        <p:txBody>
          <a:bodyPr>
            <a:normAutofit fontScale="92500"/>
          </a:bodyPr>
          <a:lstStyle/>
          <a:p>
            <a:r>
              <a:rPr lang="en-US" dirty="0"/>
              <a:t>Take 3 yellow and 3 pink sticky notes.</a:t>
            </a:r>
          </a:p>
          <a:p>
            <a:r>
              <a:rPr lang="en-US" dirty="0"/>
              <a:t>Label the yellow sticky notes A, B, and C.</a:t>
            </a:r>
          </a:p>
          <a:p>
            <a:r>
              <a:rPr lang="en-US" dirty="0"/>
              <a:t>Label the pink sticky notes a, b, and c.</a:t>
            </a:r>
          </a:p>
          <a:p>
            <a:r>
              <a:rPr lang="en-US" dirty="0"/>
              <a:t>Assemble them end-to-end.</a:t>
            </a:r>
          </a:p>
        </p:txBody>
      </p:sp>
      <p:sp>
        <p:nvSpPr>
          <p:cNvPr id="5" name="TextBox 4"/>
          <p:cNvSpPr txBox="1"/>
          <p:nvPr/>
        </p:nvSpPr>
        <p:spPr>
          <a:xfrm>
            <a:off x="4876800" y="1524000"/>
            <a:ext cx="1704313" cy="1862048"/>
          </a:xfrm>
          <a:prstGeom prst="rect">
            <a:avLst/>
          </a:prstGeom>
          <a:solidFill>
            <a:srgbClr val="FFFF00"/>
          </a:solidFill>
          <a:ln>
            <a:solidFill>
              <a:schemeClr val="tx1"/>
            </a:solidFill>
          </a:ln>
        </p:spPr>
        <p:txBody>
          <a:bodyPr wrap="none" rtlCol="0">
            <a:spAutoFit/>
          </a:bodyPr>
          <a:lstStyle/>
          <a:p>
            <a:r>
              <a:rPr lang="en-US" sz="11500" i="1" dirty="0"/>
              <a:t> A </a:t>
            </a:r>
          </a:p>
        </p:txBody>
      </p:sp>
      <p:sp>
        <p:nvSpPr>
          <p:cNvPr id="7" name="TextBox 6"/>
          <p:cNvSpPr txBox="1"/>
          <p:nvPr/>
        </p:nvSpPr>
        <p:spPr>
          <a:xfrm>
            <a:off x="4900183" y="3200400"/>
            <a:ext cx="1653017" cy="1862048"/>
          </a:xfrm>
          <a:prstGeom prst="rect">
            <a:avLst/>
          </a:prstGeom>
          <a:solidFill>
            <a:srgbClr val="FFFF00"/>
          </a:solidFill>
          <a:ln>
            <a:solidFill>
              <a:schemeClr val="tx1"/>
            </a:solidFill>
          </a:ln>
        </p:spPr>
        <p:txBody>
          <a:bodyPr wrap="none" rtlCol="0">
            <a:spAutoFit/>
          </a:bodyPr>
          <a:lstStyle/>
          <a:p>
            <a:r>
              <a:rPr lang="en-US" sz="11500" i="1" dirty="0"/>
              <a:t> B </a:t>
            </a:r>
          </a:p>
        </p:txBody>
      </p:sp>
      <p:sp>
        <p:nvSpPr>
          <p:cNvPr id="6" name="TextBox 5"/>
          <p:cNvSpPr txBox="1"/>
          <p:nvPr/>
        </p:nvSpPr>
        <p:spPr>
          <a:xfrm>
            <a:off x="4909661" y="4800600"/>
            <a:ext cx="1638590" cy="1862048"/>
          </a:xfrm>
          <a:prstGeom prst="rect">
            <a:avLst/>
          </a:prstGeom>
          <a:solidFill>
            <a:srgbClr val="FFFF00"/>
          </a:solidFill>
          <a:ln>
            <a:solidFill>
              <a:schemeClr val="tx1"/>
            </a:solidFill>
          </a:ln>
        </p:spPr>
        <p:txBody>
          <a:bodyPr wrap="none" rtlCol="0">
            <a:spAutoFit/>
          </a:bodyPr>
          <a:lstStyle/>
          <a:p>
            <a:r>
              <a:rPr lang="en-US" sz="11500" i="1" dirty="0"/>
              <a:t> C </a:t>
            </a:r>
          </a:p>
        </p:txBody>
      </p:sp>
      <p:sp>
        <p:nvSpPr>
          <p:cNvPr id="8" name="TextBox 7"/>
          <p:cNvSpPr txBox="1"/>
          <p:nvPr/>
        </p:nvSpPr>
        <p:spPr>
          <a:xfrm>
            <a:off x="7086599" y="1524000"/>
            <a:ext cx="1649149" cy="1862048"/>
          </a:xfrm>
          <a:prstGeom prst="rect">
            <a:avLst/>
          </a:prstGeom>
          <a:solidFill>
            <a:srgbClr val="FF99CC"/>
          </a:solidFill>
          <a:ln>
            <a:solidFill>
              <a:schemeClr val="tx1"/>
            </a:solidFill>
          </a:ln>
        </p:spPr>
        <p:txBody>
          <a:bodyPr wrap="square" rtlCol="0">
            <a:spAutoFit/>
          </a:bodyPr>
          <a:lstStyle/>
          <a:p>
            <a:r>
              <a:rPr lang="en-US" sz="11500" i="1" dirty="0"/>
              <a:t> a </a:t>
            </a:r>
          </a:p>
        </p:txBody>
      </p:sp>
      <p:sp>
        <p:nvSpPr>
          <p:cNvPr id="9" name="TextBox 8"/>
          <p:cNvSpPr txBox="1"/>
          <p:nvPr/>
        </p:nvSpPr>
        <p:spPr>
          <a:xfrm>
            <a:off x="7109983" y="3200400"/>
            <a:ext cx="1625766" cy="1862048"/>
          </a:xfrm>
          <a:prstGeom prst="rect">
            <a:avLst/>
          </a:prstGeom>
          <a:solidFill>
            <a:srgbClr val="FF99CC"/>
          </a:solidFill>
          <a:ln>
            <a:solidFill>
              <a:schemeClr val="tx1"/>
            </a:solidFill>
          </a:ln>
        </p:spPr>
        <p:txBody>
          <a:bodyPr wrap="none" rtlCol="0">
            <a:spAutoFit/>
          </a:bodyPr>
          <a:lstStyle/>
          <a:p>
            <a:r>
              <a:rPr lang="en-US" sz="11500" i="1" dirty="0"/>
              <a:t> b </a:t>
            </a:r>
          </a:p>
        </p:txBody>
      </p:sp>
      <p:sp>
        <p:nvSpPr>
          <p:cNvPr id="10" name="TextBox 9"/>
          <p:cNvSpPr txBox="1"/>
          <p:nvPr/>
        </p:nvSpPr>
        <p:spPr>
          <a:xfrm>
            <a:off x="7119461" y="4800600"/>
            <a:ext cx="1616288" cy="1862048"/>
          </a:xfrm>
          <a:prstGeom prst="rect">
            <a:avLst/>
          </a:prstGeom>
          <a:solidFill>
            <a:srgbClr val="FF99CC"/>
          </a:solidFill>
          <a:ln>
            <a:solidFill>
              <a:schemeClr val="tx1"/>
            </a:solidFill>
          </a:ln>
        </p:spPr>
        <p:txBody>
          <a:bodyPr wrap="square" rtlCol="0">
            <a:spAutoFit/>
          </a:bodyPr>
          <a:lstStyle/>
          <a:p>
            <a:r>
              <a:rPr lang="en-US" sz="11500" i="1" dirty="0"/>
              <a:t> c  </a:t>
            </a:r>
          </a:p>
        </p:txBody>
      </p:sp>
    </p:spTree>
    <p:extLst>
      <p:ext uri="{BB962C8B-B14F-4D97-AF65-F5344CB8AC3E}">
        <p14:creationId xmlns:p14="http://schemas.microsoft.com/office/powerpoint/2010/main" val="3680930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Crossing over/gamete formation exercise</a:t>
            </a:r>
          </a:p>
        </p:txBody>
      </p:sp>
      <p:sp>
        <p:nvSpPr>
          <p:cNvPr id="3" name="Content Placeholder 2"/>
          <p:cNvSpPr>
            <a:spLocks noGrp="1"/>
          </p:cNvSpPr>
          <p:nvPr>
            <p:ph idx="1"/>
          </p:nvPr>
        </p:nvSpPr>
        <p:spPr>
          <a:xfrm>
            <a:off x="457200" y="1600200"/>
            <a:ext cx="3810000" cy="4525963"/>
          </a:xfrm>
        </p:spPr>
        <p:txBody>
          <a:bodyPr>
            <a:normAutofit fontScale="92500" lnSpcReduction="20000"/>
          </a:bodyPr>
          <a:lstStyle/>
          <a:p>
            <a:r>
              <a:rPr lang="en-US" dirty="0"/>
              <a:t>The strings of sticky notes represent one chromatid each from 2 homologous chromosomes, one from each parent.</a:t>
            </a:r>
          </a:p>
          <a:p>
            <a:r>
              <a:rPr lang="en-US" dirty="0"/>
              <a:t>The letters represent genes.</a:t>
            </a:r>
          </a:p>
          <a:p>
            <a:r>
              <a:rPr lang="en-US" dirty="0"/>
              <a:t>Upper/lower case represent different alleles.</a:t>
            </a:r>
          </a:p>
        </p:txBody>
      </p:sp>
      <p:sp>
        <p:nvSpPr>
          <p:cNvPr id="5" name="TextBox 4"/>
          <p:cNvSpPr txBox="1"/>
          <p:nvPr/>
        </p:nvSpPr>
        <p:spPr>
          <a:xfrm>
            <a:off x="4876800" y="1524000"/>
            <a:ext cx="1704313" cy="1862048"/>
          </a:xfrm>
          <a:prstGeom prst="rect">
            <a:avLst/>
          </a:prstGeom>
          <a:solidFill>
            <a:srgbClr val="FFFF00"/>
          </a:solidFill>
          <a:ln>
            <a:solidFill>
              <a:schemeClr val="tx1"/>
            </a:solidFill>
          </a:ln>
        </p:spPr>
        <p:txBody>
          <a:bodyPr wrap="none" rtlCol="0">
            <a:spAutoFit/>
          </a:bodyPr>
          <a:lstStyle/>
          <a:p>
            <a:r>
              <a:rPr lang="en-US" sz="11500" i="1" dirty="0"/>
              <a:t> A </a:t>
            </a:r>
          </a:p>
        </p:txBody>
      </p:sp>
      <p:sp>
        <p:nvSpPr>
          <p:cNvPr id="7" name="TextBox 6"/>
          <p:cNvSpPr txBox="1"/>
          <p:nvPr/>
        </p:nvSpPr>
        <p:spPr>
          <a:xfrm>
            <a:off x="4900183" y="3200400"/>
            <a:ext cx="1653017" cy="1862048"/>
          </a:xfrm>
          <a:prstGeom prst="rect">
            <a:avLst/>
          </a:prstGeom>
          <a:solidFill>
            <a:srgbClr val="FFFF00"/>
          </a:solidFill>
          <a:ln>
            <a:solidFill>
              <a:schemeClr val="tx1"/>
            </a:solidFill>
          </a:ln>
        </p:spPr>
        <p:txBody>
          <a:bodyPr wrap="none" rtlCol="0">
            <a:spAutoFit/>
          </a:bodyPr>
          <a:lstStyle/>
          <a:p>
            <a:r>
              <a:rPr lang="en-US" sz="11500" i="1" dirty="0"/>
              <a:t> B </a:t>
            </a:r>
          </a:p>
        </p:txBody>
      </p:sp>
      <p:sp>
        <p:nvSpPr>
          <p:cNvPr id="6" name="TextBox 5"/>
          <p:cNvSpPr txBox="1"/>
          <p:nvPr/>
        </p:nvSpPr>
        <p:spPr>
          <a:xfrm>
            <a:off x="4909661" y="4800600"/>
            <a:ext cx="1638590" cy="1862048"/>
          </a:xfrm>
          <a:prstGeom prst="rect">
            <a:avLst/>
          </a:prstGeom>
          <a:solidFill>
            <a:srgbClr val="FFFF00"/>
          </a:solidFill>
          <a:ln>
            <a:solidFill>
              <a:schemeClr val="tx1"/>
            </a:solidFill>
          </a:ln>
        </p:spPr>
        <p:txBody>
          <a:bodyPr wrap="none" rtlCol="0">
            <a:spAutoFit/>
          </a:bodyPr>
          <a:lstStyle/>
          <a:p>
            <a:r>
              <a:rPr lang="en-US" sz="11500" i="1" dirty="0"/>
              <a:t> C </a:t>
            </a:r>
          </a:p>
        </p:txBody>
      </p:sp>
      <p:sp>
        <p:nvSpPr>
          <p:cNvPr id="8" name="TextBox 7"/>
          <p:cNvSpPr txBox="1"/>
          <p:nvPr/>
        </p:nvSpPr>
        <p:spPr>
          <a:xfrm>
            <a:off x="7086599" y="1524000"/>
            <a:ext cx="1649149" cy="1862048"/>
          </a:xfrm>
          <a:prstGeom prst="rect">
            <a:avLst/>
          </a:prstGeom>
          <a:solidFill>
            <a:srgbClr val="FF99CC"/>
          </a:solidFill>
          <a:ln>
            <a:solidFill>
              <a:schemeClr val="tx1"/>
            </a:solidFill>
          </a:ln>
        </p:spPr>
        <p:txBody>
          <a:bodyPr wrap="square" rtlCol="0">
            <a:spAutoFit/>
          </a:bodyPr>
          <a:lstStyle/>
          <a:p>
            <a:r>
              <a:rPr lang="en-US" sz="11500" i="1" dirty="0"/>
              <a:t> a </a:t>
            </a:r>
          </a:p>
        </p:txBody>
      </p:sp>
      <p:sp>
        <p:nvSpPr>
          <p:cNvPr id="9" name="TextBox 8"/>
          <p:cNvSpPr txBox="1"/>
          <p:nvPr/>
        </p:nvSpPr>
        <p:spPr>
          <a:xfrm>
            <a:off x="7109983" y="3200400"/>
            <a:ext cx="1625766" cy="1862048"/>
          </a:xfrm>
          <a:prstGeom prst="rect">
            <a:avLst/>
          </a:prstGeom>
          <a:solidFill>
            <a:srgbClr val="FF99CC"/>
          </a:solidFill>
          <a:ln>
            <a:solidFill>
              <a:schemeClr val="tx1"/>
            </a:solidFill>
          </a:ln>
        </p:spPr>
        <p:txBody>
          <a:bodyPr wrap="none" rtlCol="0">
            <a:spAutoFit/>
          </a:bodyPr>
          <a:lstStyle/>
          <a:p>
            <a:r>
              <a:rPr lang="en-US" sz="11500" i="1" dirty="0"/>
              <a:t> b </a:t>
            </a:r>
          </a:p>
        </p:txBody>
      </p:sp>
      <p:sp>
        <p:nvSpPr>
          <p:cNvPr id="10" name="TextBox 9"/>
          <p:cNvSpPr txBox="1"/>
          <p:nvPr/>
        </p:nvSpPr>
        <p:spPr>
          <a:xfrm>
            <a:off x="7119461" y="4800600"/>
            <a:ext cx="1616288" cy="1862048"/>
          </a:xfrm>
          <a:prstGeom prst="rect">
            <a:avLst/>
          </a:prstGeom>
          <a:solidFill>
            <a:srgbClr val="FF99CC"/>
          </a:solidFill>
          <a:ln>
            <a:solidFill>
              <a:schemeClr val="tx1"/>
            </a:solidFill>
          </a:ln>
        </p:spPr>
        <p:txBody>
          <a:bodyPr wrap="square" rtlCol="0">
            <a:spAutoFit/>
          </a:bodyPr>
          <a:lstStyle/>
          <a:p>
            <a:r>
              <a:rPr lang="en-US" sz="11500" i="1" dirty="0"/>
              <a:t> c  </a:t>
            </a:r>
          </a:p>
        </p:txBody>
      </p:sp>
    </p:spTree>
    <p:extLst>
      <p:ext uri="{BB962C8B-B14F-4D97-AF65-F5344CB8AC3E}">
        <p14:creationId xmlns:p14="http://schemas.microsoft.com/office/powerpoint/2010/main" val="4196505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086600" y="1547191"/>
            <a:ext cx="1704313" cy="1862048"/>
          </a:xfrm>
          <a:prstGeom prst="rect">
            <a:avLst/>
          </a:prstGeom>
          <a:solidFill>
            <a:srgbClr val="FFFF00"/>
          </a:solidFill>
          <a:ln>
            <a:solidFill>
              <a:schemeClr val="tx1"/>
            </a:solidFill>
          </a:ln>
        </p:spPr>
        <p:txBody>
          <a:bodyPr wrap="none" rtlCol="0">
            <a:spAutoFit/>
          </a:bodyPr>
          <a:lstStyle/>
          <a:p>
            <a:r>
              <a:rPr lang="en-US" sz="11500" i="1" dirty="0"/>
              <a:t> A </a:t>
            </a:r>
          </a:p>
        </p:txBody>
      </p:sp>
      <p:sp>
        <p:nvSpPr>
          <p:cNvPr id="8" name="TextBox 7"/>
          <p:cNvSpPr txBox="1"/>
          <p:nvPr/>
        </p:nvSpPr>
        <p:spPr>
          <a:xfrm>
            <a:off x="4909661" y="1547191"/>
            <a:ext cx="1649149" cy="1862048"/>
          </a:xfrm>
          <a:prstGeom prst="rect">
            <a:avLst/>
          </a:prstGeom>
          <a:solidFill>
            <a:srgbClr val="FF99CC"/>
          </a:solidFill>
          <a:ln>
            <a:solidFill>
              <a:schemeClr val="tx1"/>
            </a:solidFill>
          </a:ln>
        </p:spPr>
        <p:txBody>
          <a:bodyPr wrap="square" rtlCol="0">
            <a:spAutoFit/>
          </a:bodyPr>
          <a:lstStyle/>
          <a:p>
            <a:r>
              <a:rPr lang="en-US" sz="11500" i="1" dirty="0"/>
              <a:t> a </a:t>
            </a:r>
          </a:p>
        </p:txBody>
      </p:sp>
      <p:sp>
        <p:nvSpPr>
          <p:cNvPr id="2" name="Title 1"/>
          <p:cNvSpPr>
            <a:spLocks noGrp="1"/>
          </p:cNvSpPr>
          <p:nvPr>
            <p:ph type="title"/>
          </p:nvPr>
        </p:nvSpPr>
        <p:spPr/>
        <p:txBody>
          <a:bodyPr>
            <a:normAutofit fontScale="90000"/>
          </a:bodyPr>
          <a:lstStyle/>
          <a:p>
            <a:r>
              <a:rPr lang="en-US" dirty="0"/>
              <a:t>Crossing over/gamete formation exercise</a:t>
            </a:r>
          </a:p>
        </p:txBody>
      </p:sp>
      <p:sp>
        <p:nvSpPr>
          <p:cNvPr id="3" name="Content Placeholder 2"/>
          <p:cNvSpPr>
            <a:spLocks noGrp="1"/>
          </p:cNvSpPr>
          <p:nvPr>
            <p:ph idx="1"/>
          </p:nvPr>
        </p:nvSpPr>
        <p:spPr>
          <a:xfrm>
            <a:off x="457200" y="1600200"/>
            <a:ext cx="3810000" cy="4525963"/>
          </a:xfrm>
        </p:spPr>
        <p:txBody>
          <a:bodyPr>
            <a:normAutofit fontScale="85000" lnSpcReduction="10000"/>
          </a:bodyPr>
          <a:lstStyle/>
          <a:p>
            <a:pPr marL="0" indent="0">
              <a:buNone/>
            </a:pPr>
            <a:r>
              <a:rPr lang="en-US" sz="3800" dirty="0"/>
              <a:t>Simulating a crossover:</a:t>
            </a:r>
          </a:p>
          <a:p>
            <a:r>
              <a:rPr lang="en-US" sz="3300" dirty="0"/>
              <a:t>If you were born in NOVEMBER or DECEMBER, switch </a:t>
            </a:r>
            <a:r>
              <a:rPr lang="en-US" sz="3300" i="1" dirty="0"/>
              <a:t>A </a:t>
            </a:r>
            <a:r>
              <a:rPr lang="en-US" sz="3300" dirty="0"/>
              <a:t>and </a:t>
            </a:r>
            <a:r>
              <a:rPr lang="en-US" sz="3300" i="1" dirty="0"/>
              <a:t>a</a:t>
            </a:r>
            <a:r>
              <a:rPr lang="en-US" sz="3300" dirty="0"/>
              <a:t> relative to the other two genes (see diagram).</a:t>
            </a:r>
          </a:p>
          <a:p>
            <a:r>
              <a:rPr lang="en-US" sz="3300" dirty="0"/>
              <a:t>Otherwise, leave your chromosomes alone.</a:t>
            </a:r>
          </a:p>
        </p:txBody>
      </p:sp>
      <p:sp>
        <p:nvSpPr>
          <p:cNvPr id="7" name="TextBox 6"/>
          <p:cNvSpPr txBox="1"/>
          <p:nvPr/>
        </p:nvSpPr>
        <p:spPr>
          <a:xfrm>
            <a:off x="4900183" y="3200400"/>
            <a:ext cx="1653017" cy="1862048"/>
          </a:xfrm>
          <a:prstGeom prst="rect">
            <a:avLst/>
          </a:prstGeom>
          <a:solidFill>
            <a:srgbClr val="FFFF00"/>
          </a:solidFill>
          <a:ln>
            <a:solidFill>
              <a:schemeClr val="tx1"/>
            </a:solidFill>
          </a:ln>
        </p:spPr>
        <p:txBody>
          <a:bodyPr wrap="none" rtlCol="0">
            <a:spAutoFit/>
          </a:bodyPr>
          <a:lstStyle/>
          <a:p>
            <a:r>
              <a:rPr lang="en-US" sz="11500" i="1" dirty="0"/>
              <a:t> B </a:t>
            </a:r>
          </a:p>
        </p:txBody>
      </p:sp>
      <p:sp>
        <p:nvSpPr>
          <p:cNvPr id="6" name="TextBox 5"/>
          <p:cNvSpPr txBox="1"/>
          <p:nvPr/>
        </p:nvSpPr>
        <p:spPr>
          <a:xfrm>
            <a:off x="4909661" y="4800600"/>
            <a:ext cx="1638590" cy="1862048"/>
          </a:xfrm>
          <a:prstGeom prst="rect">
            <a:avLst/>
          </a:prstGeom>
          <a:solidFill>
            <a:srgbClr val="FFFF00"/>
          </a:solidFill>
          <a:ln>
            <a:solidFill>
              <a:schemeClr val="tx1"/>
            </a:solidFill>
          </a:ln>
        </p:spPr>
        <p:txBody>
          <a:bodyPr wrap="none" rtlCol="0">
            <a:spAutoFit/>
          </a:bodyPr>
          <a:lstStyle/>
          <a:p>
            <a:r>
              <a:rPr lang="en-US" sz="11500" i="1" dirty="0"/>
              <a:t> C </a:t>
            </a:r>
          </a:p>
        </p:txBody>
      </p:sp>
      <p:sp>
        <p:nvSpPr>
          <p:cNvPr id="9" name="TextBox 8"/>
          <p:cNvSpPr txBox="1"/>
          <p:nvPr/>
        </p:nvSpPr>
        <p:spPr>
          <a:xfrm>
            <a:off x="7109983" y="3200400"/>
            <a:ext cx="1625766" cy="1862048"/>
          </a:xfrm>
          <a:prstGeom prst="rect">
            <a:avLst/>
          </a:prstGeom>
          <a:solidFill>
            <a:srgbClr val="FF99CC"/>
          </a:solidFill>
          <a:ln>
            <a:solidFill>
              <a:schemeClr val="tx1"/>
            </a:solidFill>
          </a:ln>
        </p:spPr>
        <p:txBody>
          <a:bodyPr wrap="none" rtlCol="0">
            <a:spAutoFit/>
          </a:bodyPr>
          <a:lstStyle/>
          <a:p>
            <a:r>
              <a:rPr lang="en-US" sz="11500" i="1" dirty="0"/>
              <a:t> b </a:t>
            </a:r>
          </a:p>
        </p:txBody>
      </p:sp>
      <p:sp>
        <p:nvSpPr>
          <p:cNvPr id="10" name="TextBox 9"/>
          <p:cNvSpPr txBox="1"/>
          <p:nvPr/>
        </p:nvSpPr>
        <p:spPr>
          <a:xfrm>
            <a:off x="7119461" y="4800600"/>
            <a:ext cx="1616288" cy="1862048"/>
          </a:xfrm>
          <a:prstGeom prst="rect">
            <a:avLst/>
          </a:prstGeom>
          <a:solidFill>
            <a:srgbClr val="FF99CC"/>
          </a:solidFill>
          <a:ln>
            <a:solidFill>
              <a:schemeClr val="tx1"/>
            </a:solidFill>
          </a:ln>
        </p:spPr>
        <p:txBody>
          <a:bodyPr wrap="square" rtlCol="0">
            <a:spAutoFit/>
          </a:bodyPr>
          <a:lstStyle/>
          <a:p>
            <a:r>
              <a:rPr lang="en-US" sz="11500" i="1" dirty="0"/>
              <a:t> c  </a:t>
            </a:r>
          </a:p>
        </p:txBody>
      </p:sp>
      <p:grpSp>
        <p:nvGrpSpPr>
          <p:cNvPr id="16" name="Group 15"/>
          <p:cNvGrpSpPr/>
          <p:nvPr/>
        </p:nvGrpSpPr>
        <p:grpSpPr>
          <a:xfrm>
            <a:off x="5867400" y="1348409"/>
            <a:ext cx="2057401" cy="404191"/>
            <a:chOff x="5867400" y="1143000"/>
            <a:chExt cx="2057401" cy="404191"/>
          </a:xfrm>
        </p:grpSpPr>
        <p:cxnSp>
          <p:nvCxnSpPr>
            <p:cNvPr id="11" name="Straight Connector 10"/>
            <p:cNvCxnSpPr/>
            <p:nvPr/>
          </p:nvCxnSpPr>
          <p:spPr>
            <a:xfrm>
              <a:off x="5867400" y="1143000"/>
              <a:ext cx="205546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5867400" y="1143000"/>
              <a:ext cx="0" cy="404191"/>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7924800" y="1143000"/>
              <a:ext cx="1" cy="404191"/>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59279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Crossing over/gamete formation exercise</a:t>
            </a:r>
          </a:p>
        </p:txBody>
      </p:sp>
      <p:sp>
        <p:nvSpPr>
          <p:cNvPr id="3" name="Content Placeholder 2"/>
          <p:cNvSpPr>
            <a:spLocks noGrp="1"/>
          </p:cNvSpPr>
          <p:nvPr>
            <p:ph idx="1"/>
          </p:nvPr>
        </p:nvSpPr>
        <p:spPr>
          <a:xfrm>
            <a:off x="457200" y="1600200"/>
            <a:ext cx="3810000" cy="4876800"/>
          </a:xfrm>
        </p:spPr>
        <p:txBody>
          <a:bodyPr>
            <a:normAutofit fontScale="92500"/>
          </a:bodyPr>
          <a:lstStyle/>
          <a:p>
            <a:pPr marL="0" lvl="0" indent="0">
              <a:buNone/>
            </a:pPr>
            <a:r>
              <a:rPr lang="en-US" sz="3500" dirty="0">
                <a:solidFill>
                  <a:prstClr val="black"/>
                </a:solidFill>
              </a:rPr>
              <a:t>Simulating a second crossover:</a:t>
            </a:r>
          </a:p>
          <a:p>
            <a:pPr lvl="0"/>
            <a:r>
              <a:rPr lang="en-US" sz="3000" dirty="0">
                <a:solidFill>
                  <a:prstClr val="black"/>
                </a:solidFill>
              </a:rPr>
              <a:t>If you were born on the 1</a:t>
            </a:r>
            <a:r>
              <a:rPr lang="en-US" sz="3000" baseline="30000" dirty="0">
                <a:solidFill>
                  <a:prstClr val="black"/>
                </a:solidFill>
              </a:rPr>
              <a:t>st</a:t>
            </a:r>
            <a:r>
              <a:rPr lang="en-US" sz="3000" dirty="0">
                <a:solidFill>
                  <a:prstClr val="black"/>
                </a:solidFill>
              </a:rPr>
              <a:t> through 6</a:t>
            </a:r>
            <a:r>
              <a:rPr lang="en-US" sz="3000" baseline="30000" dirty="0">
                <a:solidFill>
                  <a:prstClr val="black"/>
                </a:solidFill>
              </a:rPr>
              <a:t>th</a:t>
            </a:r>
            <a:r>
              <a:rPr lang="en-US" sz="3000" dirty="0">
                <a:solidFill>
                  <a:prstClr val="black"/>
                </a:solidFill>
              </a:rPr>
              <a:t> day of the month, switch </a:t>
            </a:r>
            <a:r>
              <a:rPr lang="en-US" sz="3000" i="1" dirty="0">
                <a:solidFill>
                  <a:prstClr val="black"/>
                </a:solidFill>
              </a:rPr>
              <a:t>C </a:t>
            </a:r>
            <a:r>
              <a:rPr lang="en-US" sz="3000" dirty="0">
                <a:solidFill>
                  <a:prstClr val="black"/>
                </a:solidFill>
              </a:rPr>
              <a:t>and </a:t>
            </a:r>
            <a:r>
              <a:rPr lang="en-US" sz="3000" i="1" dirty="0">
                <a:solidFill>
                  <a:prstClr val="black"/>
                </a:solidFill>
              </a:rPr>
              <a:t>c</a:t>
            </a:r>
            <a:r>
              <a:rPr lang="en-US" sz="3000" dirty="0">
                <a:solidFill>
                  <a:prstClr val="black"/>
                </a:solidFill>
              </a:rPr>
              <a:t> relative to the other two genes (see diagram).</a:t>
            </a:r>
          </a:p>
          <a:p>
            <a:pPr lvl="0"/>
            <a:r>
              <a:rPr lang="en-US" sz="3000" dirty="0">
                <a:solidFill>
                  <a:prstClr val="black"/>
                </a:solidFill>
              </a:rPr>
              <a:t>Otherwise, leave your chromosomes alone.</a:t>
            </a:r>
          </a:p>
        </p:txBody>
      </p:sp>
      <p:sp>
        <p:nvSpPr>
          <p:cNvPr id="5" name="TextBox 4"/>
          <p:cNvSpPr txBox="1"/>
          <p:nvPr/>
        </p:nvSpPr>
        <p:spPr>
          <a:xfrm>
            <a:off x="4495800" y="2136114"/>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7" name="TextBox 6"/>
          <p:cNvSpPr txBox="1"/>
          <p:nvPr/>
        </p:nvSpPr>
        <p:spPr>
          <a:xfrm>
            <a:off x="4507492" y="2974314"/>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8" name="TextBox 7"/>
          <p:cNvSpPr txBox="1"/>
          <p:nvPr/>
        </p:nvSpPr>
        <p:spPr>
          <a:xfrm>
            <a:off x="5600700" y="2136114"/>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9" name="TextBox 8"/>
          <p:cNvSpPr txBox="1"/>
          <p:nvPr/>
        </p:nvSpPr>
        <p:spPr>
          <a:xfrm>
            <a:off x="5612392" y="2974314"/>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10" name="TextBox 9"/>
          <p:cNvSpPr txBox="1"/>
          <p:nvPr/>
        </p:nvSpPr>
        <p:spPr>
          <a:xfrm>
            <a:off x="4512087" y="3774414"/>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6" name="TextBox 5"/>
          <p:cNvSpPr txBox="1"/>
          <p:nvPr/>
        </p:nvSpPr>
        <p:spPr>
          <a:xfrm>
            <a:off x="5603339" y="3774473"/>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grpSp>
        <p:nvGrpSpPr>
          <p:cNvPr id="11" name="Group 10"/>
          <p:cNvGrpSpPr/>
          <p:nvPr/>
        </p:nvGrpSpPr>
        <p:grpSpPr>
          <a:xfrm rot="10800000">
            <a:off x="4984285" y="4536414"/>
            <a:ext cx="1028701" cy="416586"/>
            <a:chOff x="5867400" y="1143000"/>
            <a:chExt cx="2057401" cy="404191"/>
          </a:xfrm>
        </p:grpSpPr>
        <p:cxnSp>
          <p:nvCxnSpPr>
            <p:cNvPr id="12" name="Straight Connector 11"/>
            <p:cNvCxnSpPr/>
            <p:nvPr/>
          </p:nvCxnSpPr>
          <p:spPr>
            <a:xfrm>
              <a:off x="5867400" y="1143000"/>
              <a:ext cx="205546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5867400" y="1143000"/>
              <a:ext cx="0" cy="404191"/>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7924800" y="1143000"/>
              <a:ext cx="1" cy="404191"/>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18" name="TextBox 17"/>
          <p:cNvSpPr txBox="1"/>
          <p:nvPr/>
        </p:nvSpPr>
        <p:spPr>
          <a:xfrm>
            <a:off x="6950488" y="2127890"/>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16" name="TextBox 15"/>
          <p:cNvSpPr txBox="1"/>
          <p:nvPr/>
        </p:nvSpPr>
        <p:spPr>
          <a:xfrm>
            <a:off x="8050793" y="2133600"/>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17" name="TextBox 16"/>
          <p:cNvSpPr txBox="1"/>
          <p:nvPr/>
        </p:nvSpPr>
        <p:spPr>
          <a:xfrm>
            <a:off x="6945892" y="2976828"/>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19" name="TextBox 18"/>
          <p:cNvSpPr txBox="1"/>
          <p:nvPr/>
        </p:nvSpPr>
        <p:spPr>
          <a:xfrm>
            <a:off x="8050793" y="2976828"/>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20" name="TextBox 19"/>
          <p:cNvSpPr txBox="1"/>
          <p:nvPr/>
        </p:nvSpPr>
        <p:spPr>
          <a:xfrm>
            <a:off x="6950488" y="3776928"/>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21" name="TextBox 20"/>
          <p:cNvSpPr txBox="1"/>
          <p:nvPr/>
        </p:nvSpPr>
        <p:spPr>
          <a:xfrm>
            <a:off x="8041740" y="3776987"/>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grpSp>
        <p:nvGrpSpPr>
          <p:cNvPr id="22" name="Group 21"/>
          <p:cNvGrpSpPr/>
          <p:nvPr/>
        </p:nvGrpSpPr>
        <p:grpSpPr>
          <a:xfrm rot="10800000">
            <a:off x="7422686" y="4538927"/>
            <a:ext cx="1028701" cy="414073"/>
            <a:chOff x="5867400" y="1143000"/>
            <a:chExt cx="2057401" cy="404191"/>
          </a:xfrm>
        </p:grpSpPr>
        <p:cxnSp>
          <p:nvCxnSpPr>
            <p:cNvPr id="23" name="Straight Connector 22"/>
            <p:cNvCxnSpPr/>
            <p:nvPr/>
          </p:nvCxnSpPr>
          <p:spPr>
            <a:xfrm>
              <a:off x="5867400" y="1143000"/>
              <a:ext cx="205546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5867400" y="1143000"/>
              <a:ext cx="0" cy="404191"/>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7924800" y="1143000"/>
              <a:ext cx="1" cy="404191"/>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26" name="TextBox 25"/>
          <p:cNvSpPr txBox="1"/>
          <p:nvPr/>
        </p:nvSpPr>
        <p:spPr>
          <a:xfrm>
            <a:off x="7354560" y="1676400"/>
            <a:ext cx="1050288" cy="369332"/>
          </a:xfrm>
          <a:prstGeom prst="rect">
            <a:avLst/>
          </a:prstGeom>
          <a:noFill/>
        </p:spPr>
        <p:txBody>
          <a:bodyPr wrap="none" rtlCol="0">
            <a:spAutoFit/>
          </a:bodyPr>
          <a:lstStyle/>
          <a:p>
            <a:r>
              <a:rPr lang="en-US" dirty="0"/>
              <a:t>. . . or . . .</a:t>
            </a:r>
          </a:p>
        </p:txBody>
      </p:sp>
    </p:spTree>
    <p:extLst>
      <p:ext uri="{BB962C8B-B14F-4D97-AF65-F5344CB8AC3E}">
        <p14:creationId xmlns:p14="http://schemas.microsoft.com/office/powerpoint/2010/main" val="559279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Crossing over/gamete formation exercise</a:t>
            </a:r>
          </a:p>
        </p:txBody>
      </p:sp>
      <p:sp>
        <p:nvSpPr>
          <p:cNvPr id="3" name="Content Placeholder 2"/>
          <p:cNvSpPr>
            <a:spLocks noGrp="1"/>
          </p:cNvSpPr>
          <p:nvPr>
            <p:ph idx="1"/>
          </p:nvPr>
        </p:nvSpPr>
        <p:spPr>
          <a:xfrm>
            <a:off x="457200" y="1600200"/>
            <a:ext cx="3810000" cy="4525963"/>
          </a:xfrm>
        </p:spPr>
        <p:txBody>
          <a:bodyPr>
            <a:normAutofit/>
          </a:bodyPr>
          <a:lstStyle/>
          <a:p>
            <a:r>
              <a:rPr lang="en-US" sz="3000" dirty="0">
                <a:solidFill>
                  <a:prstClr val="black"/>
                </a:solidFill>
              </a:rPr>
              <a:t>Finally</a:t>
            </a:r>
            <a:r>
              <a:rPr lang="en-US" sz="3000">
                <a:solidFill>
                  <a:prstClr val="black"/>
                </a:solidFill>
              </a:rPr>
              <a:t>, randomly take </a:t>
            </a:r>
            <a:r>
              <a:rPr lang="en-US" sz="3000" dirty="0">
                <a:solidFill>
                  <a:prstClr val="black"/>
                </a:solidFill>
              </a:rPr>
              <a:t>ONE of your two chromosomes.</a:t>
            </a:r>
          </a:p>
          <a:p>
            <a:r>
              <a:rPr lang="en-US" sz="3000" dirty="0">
                <a:solidFill>
                  <a:prstClr val="black"/>
                </a:solidFill>
              </a:rPr>
              <a:t>Use it to answer the clicker questions.</a:t>
            </a:r>
          </a:p>
        </p:txBody>
      </p:sp>
    </p:spTree>
    <p:extLst>
      <p:ext uri="{BB962C8B-B14F-4D97-AF65-F5344CB8AC3E}">
        <p14:creationId xmlns:p14="http://schemas.microsoft.com/office/powerpoint/2010/main" val="4123758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Clicker question</a:t>
            </a:r>
          </a:p>
        </p:txBody>
      </p:sp>
      <p:sp>
        <p:nvSpPr>
          <p:cNvPr id="3" name="Content Placeholder 2"/>
          <p:cNvSpPr>
            <a:spLocks noGrp="1"/>
          </p:cNvSpPr>
          <p:nvPr>
            <p:ph idx="1"/>
          </p:nvPr>
        </p:nvSpPr>
        <p:spPr/>
        <p:txBody>
          <a:bodyPr/>
          <a:lstStyle/>
          <a:p>
            <a:pPr marL="0" indent="0">
              <a:buNone/>
            </a:pPr>
            <a:r>
              <a:rPr lang="en-US" dirty="0"/>
              <a:t>Considering ONLY genes </a:t>
            </a:r>
            <a:r>
              <a:rPr lang="en-US" i="1" dirty="0"/>
              <a:t>A/a</a:t>
            </a:r>
            <a:r>
              <a:rPr lang="en-US" dirty="0"/>
              <a:t> and </a:t>
            </a:r>
            <a:r>
              <a:rPr lang="en-US" i="1" dirty="0"/>
              <a:t>B/b</a:t>
            </a:r>
            <a:r>
              <a:rPr lang="en-US" dirty="0"/>
              <a:t>, which of the following combinations do you have?</a:t>
            </a:r>
          </a:p>
          <a:p>
            <a:pPr marL="514350" indent="-514350">
              <a:buFont typeface="+mj-lt"/>
              <a:buAutoNum type="alphaUcPeriod"/>
            </a:pPr>
            <a:r>
              <a:rPr lang="en-US" dirty="0"/>
              <a:t> </a:t>
            </a:r>
            <a:r>
              <a:rPr lang="en-US" i="1" dirty="0"/>
              <a:t>AB</a:t>
            </a:r>
            <a:r>
              <a:rPr lang="en-US" dirty="0"/>
              <a:t> (parental)</a:t>
            </a:r>
          </a:p>
          <a:p>
            <a:pPr marL="514350" indent="-514350">
              <a:buFont typeface="+mj-lt"/>
              <a:buAutoNum type="alphaUcPeriod"/>
            </a:pPr>
            <a:r>
              <a:rPr lang="en-US" dirty="0"/>
              <a:t> </a:t>
            </a:r>
            <a:r>
              <a:rPr lang="en-US" i="1" dirty="0" err="1"/>
              <a:t>ab</a:t>
            </a:r>
            <a:r>
              <a:rPr lang="en-US" dirty="0"/>
              <a:t> (parental)</a:t>
            </a:r>
          </a:p>
          <a:p>
            <a:pPr marL="514350" indent="-514350">
              <a:buFont typeface="+mj-lt"/>
              <a:buAutoNum type="alphaUcPeriod"/>
            </a:pPr>
            <a:r>
              <a:rPr lang="en-US" dirty="0"/>
              <a:t> </a:t>
            </a:r>
            <a:r>
              <a:rPr lang="en-US" i="1" dirty="0" err="1"/>
              <a:t>Ab</a:t>
            </a:r>
            <a:r>
              <a:rPr lang="en-US" dirty="0"/>
              <a:t> (recombinant)</a:t>
            </a:r>
          </a:p>
          <a:p>
            <a:pPr marL="514350" indent="-514350">
              <a:buFont typeface="+mj-lt"/>
              <a:buAutoNum type="alphaUcPeriod"/>
            </a:pPr>
            <a:r>
              <a:rPr lang="en-US" dirty="0"/>
              <a:t> </a:t>
            </a:r>
            <a:r>
              <a:rPr lang="en-US" i="1" dirty="0" err="1"/>
              <a:t>aB</a:t>
            </a:r>
            <a:r>
              <a:rPr lang="en-US" dirty="0"/>
              <a:t> (recombinant)</a:t>
            </a:r>
          </a:p>
        </p:txBody>
      </p:sp>
      <p:sp>
        <p:nvSpPr>
          <p:cNvPr id="4" name="TextBox 3"/>
          <p:cNvSpPr txBox="1"/>
          <p:nvPr/>
        </p:nvSpPr>
        <p:spPr>
          <a:xfrm>
            <a:off x="7803303" y="2956634"/>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5" name="TextBox 4"/>
          <p:cNvSpPr txBox="1"/>
          <p:nvPr/>
        </p:nvSpPr>
        <p:spPr>
          <a:xfrm>
            <a:off x="5537790" y="2958261"/>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6" name="TextBox 5"/>
          <p:cNvSpPr txBox="1"/>
          <p:nvPr/>
        </p:nvSpPr>
        <p:spPr>
          <a:xfrm>
            <a:off x="6927919" y="2958261"/>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7" name="TextBox 6"/>
          <p:cNvSpPr txBox="1"/>
          <p:nvPr/>
        </p:nvSpPr>
        <p:spPr>
          <a:xfrm>
            <a:off x="4623390" y="2958261"/>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8" name="TextBox 7"/>
          <p:cNvSpPr txBox="1"/>
          <p:nvPr/>
        </p:nvSpPr>
        <p:spPr>
          <a:xfrm>
            <a:off x="4635082" y="3796461"/>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9" name="TextBox 8"/>
          <p:cNvSpPr txBox="1"/>
          <p:nvPr/>
        </p:nvSpPr>
        <p:spPr>
          <a:xfrm>
            <a:off x="4639821" y="4596561"/>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10" name="TextBox 9"/>
          <p:cNvSpPr txBox="1"/>
          <p:nvPr/>
        </p:nvSpPr>
        <p:spPr>
          <a:xfrm>
            <a:off x="5549482" y="3796461"/>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11" name="TextBox 10"/>
          <p:cNvSpPr txBox="1"/>
          <p:nvPr/>
        </p:nvSpPr>
        <p:spPr>
          <a:xfrm>
            <a:off x="5554221" y="4596561"/>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12" name="TextBox 11"/>
          <p:cNvSpPr txBox="1"/>
          <p:nvPr/>
        </p:nvSpPr>
        <p:spPr>
          <a:xfrm>
            <a:off x="6909390" y="3796461"/>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13" name="TextBox 12"/>
          <p:cNvSpPr txBox="1"/>
          <p:nvPr/>
        </p:nvSpPr>
        <p:spPr>
          <a:xfrm>
            <a:off x="6914129" y="4596561"/>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14" name="TextBox 13"/>
          <p:cNvSpPr txBox="1"/>
          <p:nvPr/>
        </p:nvSpPr>
        <p:spPr>
          <a:xfrm>
            <a:off x="7820570" y="3789952"/>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15" name="TextBox 14"/>
          <p:cNvSpPr txBox="1"/>
          <p:nvPr/>
        </p:nvSpPr>
        <p:spPr>
          <a:xfrm>
            <a:off x="7825309" y="4590052"/>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16" name="Rectangle 15"/>
          <p:cNvSpPr/>
          <p:nvPr/>
        </p:nvSpPr>
        <p:spPr>
          <a:xfrm>
            <a:off x="4487421" y="4520361"/>
            <a:ext cx="4343400" cy="106680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9113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Clicker question</a:t>
            </a:r>
          </a:p>
        </p:txBody>
      </p:sp>
      <p:sp>
        <p:nvSpPr>
          <p:cNvPr id="3" name="Content Placeholder 2"/>
          <p:cNvSpPr>
            <a:spLocks noGrp="1"/>
          </p:cNvSpPr>
          <p:nvPr>
            <p:ph idx="1"/>
          </p:nvPr>
        </p:nvSpPr>
        <p:spPr/>
        <p:txBody>
          <a:bodyPr/>
          <a:lstStyle/>
          <a:p>
            <a:pPr marL="0" indent="0">
              <a:buNone/>
            </a:pPr>
            <a:r>
              <a:rPr lang="en-US" dirty="0"/>
              <a:t>Considering ONLY genes </a:t>
            </a:r>
            <a:r>
              <a:rPr lang="en-US" i="1" dirty="0"/>
              <a:t>B/b</a:t>
            </a:r>
            <a:r>
              <a:rPr lang="en-US" dirty="0"/>
              <a:t> and </a:t>
            </a:r>
            <a:r>
              <a:rPr lang="en-US" i="1" dirty="0"/>
              <a:t>C/c</a:t>
            </a:r>
            <a:r>
              <a:rPr lang="en-US" dirty="0"/>
              <a:t>, which of the following combinations do you have?</a:t>
            </a:r>
          </a:p>
          <a:p>
            <a:pPr marL="514350" indent="-514350">
              <a:buFont typeface="+mj-lt"/>
              <a:buAutoNum type="alphaUcPeriod"/>
            </a:pPr>
            <a:r>
              <a:rPr lang="en-US" dirty="0"/>
              <a:t> </a:t>
            </a:r>
            <a:r>
              <a:rPr lang="en-US" i="1" dirty="0"/>
              <a:t>BC </a:t>
            </a:r>
            <a:r>
              <a:rPr lang="en-US" dirty="0"/>
              <a:t>(parental)</a:t>
            </a:r>
          </a:p>
          <a:p>
            <a:pPr marL="514350" indent="-514350">
              <a:buFont typeface="+mj-lt"/>
              <a:buAutoNum type="alphaUcPeriod"/>
            </a:pPr>
            <a:r>
              <a:rPr lang="en-US" dirty="0"/>
              <a:t> </a:t>
            </a:r>
            <a:r>
              <a:rPr lang="en-US" i="1" dirty="0" err="1"/>
              <a:t>bc</a:t>
            </a:r>
            <a:r>
              <a:rPr lang="en-US" dirty="0"/>
              <a:t> (parental)</a:t>
            </a:r>
          </a:p>
          <a:p>
            <a:pPr marL="514350" indent="-514350">
              <a:buFont typeface="+mj-lt"/>
              <a:buAutoNum type="alphaUcPeriod"/>
            </a:pPr>
            <a:r>
              <a:rPr lang="en-US" dirty="0"/>
              <a:t> </a:t>
            </a:r>
            <a:r>
              <a:rPr lang="en-US" i="1" dirty="0" err="1"/>
              <a:t>Bc</a:t>
            </a:r>
            <a:r>
              <a:rPr lang="en-US" dirty="0"/>
              <a:t> (recombinant)</a:t>
            </a:r>
          </a:p>
          <a:p>
            <a:pPr marL="514350" indent="-514350">
              <a:buFont typeface="+mj-lt"/>
              <a:buAutoNum type="alphaUcPeriod"/>
            </a:pPr>
            <a:r>
              <a:rPr lang="en-US" dirty="0"/>
              <a:t> </a:t>
            </a:r>
            <a:r>
              <a:rPr lang="en-US" i="1" dirty="0" err="1"/>
              <a:t>bC</a:t>
            </a:r>
            <a:r>
              <a:rPr lang="en-US" dirty="0"/>
              <a:t> (recombinant)</a:t>
            </a:r>
          </a:p>
        </p:txBody>
      </p:sp>
      <p:sp>
        <p:nvSpPr>
          <p:cNvPr id="4" name="TextBox 3"/>
          <p:cNvSpPr txBox="1"/>
          <p:nvPr/>
        </p:nvSpPr>
        <p:spPr>
          <a:xfrm>
            <a:off x="6848566" y="2895600"/>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5" name="TextBox 4"/>
          <p:cNvSpPr txBox="1"/>
          <p:nvPr/>
        </p:nvSpPr>
        <p:spPr>
          <a:xfrm>
            <a:off x="6828411" y="3733800"/>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6" name="TextBox 5"/>
          <p:cNvSpPr txBox="1"/>
          <p:nvPr/>
        </p:nvSpPr>
        <p:spPr>
          <a:xfrm>
            <a:off x="6853846" y="4533900"/>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7" name="TextBox 6"/>
          <p:cNvSpPr txBox="1"/>
          <p:nvPr/>
        </p:nvSpPr>
        <p:spPr>
          <a:xfrm>
            <a:off x="7813849" y="2889091"/>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8" name="TextBox 7"/>
          <p:cNvSpPr txBox="1"/>
          <p:nvPr/>
        </p:nvSpPr>
        <p:spPr>
          <a:xfrm>
            <a:off x="7825541" y="3727291"/>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9" name="TextBox 8"/>
          <p:cNvSpPr txBox="1"/>
          <p:nvPr/>
        </p:nvSpPr>
        <p:spPr>
          <a:xfrm>
            <a:off x="7855358" y="4533900"/>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10" name="TextBox 9"/>
          <p:cNvSpPr txBox="1"/>
          <p:nvPr/>
        </p:nvSpPr>
        <p:spPr>
          <a:xfrm>
            <a:off x="5548644" y="2912224"/>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11" name="TextBox 10"/>
          <p:cNvSpPr txBox="1"/>
          <p:nvPr/>
        </p:nvSpPr>
        <p:spPr>
          <a:xfrm>
            <a:off x="4634244" y="2912224"/>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12" name="TextBox 11"/>
          <p:cNvSpPr txBox="1"/>
          <p:nvPr/>
        </p:nvSpPr>
        <p:spPr>
          <a:xfrm>
            <a:off x="4645936" y="3750424"/>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13" name="TextBox 12"/>
          <p:cNvSpPr txBox="1"/>
          <p:nvPr/>
        </p:nvSpPr>
        <p:spPr>
          <a:xfrm>
            <a:off x="4650675" y="4550524"/>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14" name="TextBox 13"/>
          <p:cNvSpPr txBox="1"/>
          <p:nvPr/>
        </p:nvSpPr>
        <p:spPr>
          <a:xfrm>
            <a:off x="5560336" y="3750424"/>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15" name="TextBox 14"/>
          <p:cNvSpPr txBox="1"/>
          <p:nvPr/>
        </p:nvSpPr>
        <p:spPr>
          <a:xfrm>
            <a:off x="5565075" y="4550524"/>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16" name="Rectangle 15"/>
          <p:cNvSpPr/>
          <p:nvPr/>
        </p:nvSpPr>
        <p:spPr>
          <a:xfrm>
            <a:off x="4498275" y="2683683"/>
            <a:ext cx="4343400" cy="106680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9915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Clicker question</a:t>
            </a:r>
          </a:p>
        </p:txBody>
      </p:sp>
      <p:sp>
        <p:nvSpPr>
          <p:cNvPr id="3" name="Content Placeholder 2"/>
          <p:cNvSpPr>
            <a:spLocks noGrp="1"/>
          </p:cNvSpPr>
          <p:nvPr>
            <p:ph idx="1"/>
          </p:nvPr>
        </p:nvSpPr>
        <p:spPr/>
        <p:txBody>
          <a:bodyPr/>
          <a:lstStyle/>
          <a:p>
            <a:pPr marL="0" indent="0">
              <a:buNone/>
            </a:pPr>
            <a:r>
              <a:rPr lang="en-US" dirty="0"/>
              <a:t>Considering ONLY genes </a:t>
            </a:r>
            <a:r>
              <a:rPr lang="en-US" i="1" dirty="0"/>
              <a:t>A/a</a:t>
            </a:r>
            <a:r>
              <a:rPr lang="en-US" dirty="0"/>
              <a:t> and </a:t>
            </a:r>
            <a:r>
              <a:rPr lang="en-US" i="1" dirty="0"/>
              <a:t>C/c</a:t>
            </a:r>
            <a:r>
              <a:rPr lang="en-US" dirty="0"/>
              <a:t>, which of the following combinations do you have?</a:t>
            </a:r>
          </a:p>
          <a:p>
            <a:pPr marL="514350" indent="-514350">
              <a:buFont typeface="+mj-lt"/>
              <a:buAutoNum type="alphaUcPeriod"/>
            </a:pPr>
            <a:r>
              <a:rPr lang="en-US" dirty="0"/>
              <a:t> </a:t>
            </a:r>
            <a:r>
              <a:rPr lang="en-US" i="1" dirty="0"/>
              <a:t>AC</a:t>
            </a:r>
            <a:r>
              <a:rPr lang="en-US" dirty="0"/>
              <a:t> (parental)</a:t>
            </a:r>
          </a:p>
          <a:p>
            <a:pPr marL="514350" indent="-514350">
              <a:buFont typeface="+mj-lt"/>
              <a:buAutoNum type="alphaUcPeriod"/>
            </a:pPr>
            <a:r>
              <a:rPr lang="en-US" dirty="0"/>
              <a:t> </a:t>
            </a:r>
            <a:r>
              <a:rPr lang="en-US" i="1" dirty="0"/>
              <a:t>ac</a:t>
            </a:r>
            <a:r>
              <a:rPr lang="en-US" dirty="0"/>
              <a:t> (parental)</a:t>
            </a:r>
          </a:p>
          <a:p>
            <a:pPr marL="514350" indent="-514350">
              <a:buFont typeface="+mj-lt"/>
              <a:buAutoNum type="alphaUcPeriod"/>
            </a:pPr>
            <a:r>
              <a:rPr lang="en-US" dirty="0"/>
              <a:t> </a:t>
            </a:r>
            <a:r>
              <a:rPr lang="en-US" i="1" dirty="0"/>
              <a:t>Ac</a:t>
            </a:r>
            <a:r>
              <a:rPr lang="en-US" dirty="0"/>
              <a:t> (recombinant)</a:t>
            </a:r>
          </a:p>
          <a:p>
            <a:pPr marL="514350" indent="-514350">
              <a:buFont typeface="+mj-lt"/>
              <a:buAutoNum type="alphaUcPeriod"/>
            </a:pPr>
            <a:r>
              <a:rPr lang="en-US" dirty="0"/>
              <a:t> </a:t>
            </a:r>
            <a:r>
              <a:rPr lang="en-US" i="1" dirty="0" err="1"/>
              <a:t>aC</a:t>
            </a:r>
            <a:r>
              <a:rPr lang="en-US" dirty="0"/>
              <a:t> (recombinant)</a:t>
            </a:r>
          </a:p>
        </p:txBody>
      </p:sp>
      <p:sp>
        <p:nvSpPr>
          <p:cNvPr id="4" name="TextBox 3"/>
          <p:cNvSpPr txBox="1"/>
          <p:nvPr/>
        </p:nvSpPr>
        <p:spPr>
          <a:xfrm>
            <a:off x="6865731" y="2820954"/>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5" name="TextBox 4"/>
          <p:cNvSpPr txBox="1"/>
          <p:nvPr/>
        </p:nvSpPr>
        <p:spPr>
          <a:xfrm>
            <a:off x="6845576" y="3659154"/>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6" name="TextBox 5"/>
          <p:cNvSpPr txBox="1"/>
          <p:nvPr/>
        </p:nvSpPr>
        <p:spPr>
          <a:xfrm>
            <a:off x="6871011" y="4459254"/>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7" name="TextBox 6"/>
          <p:cNvSpPr txBox="1"/>
          <p:nvPr/>
        </p:nvSpPr>
        <p:spPr>
          <a:xfrm>
            <a:off x="7831014" y="2814445"/>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8" name="TextBox 7"/>
          <p:cNvSpPr txBox="1"/>
          <p:nvPr/>
        </p:nvSpPr>
        <p:spPr>
          <a:xfrm>
            <a:off x="7842706" y="3652645"/>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9" name="TextBox 8"/>
          <p:cNvSpPr txBox="1"/>
          <p:nvPr/>
        </p:nvSpPr>
        <p:spPr>
          <a:xfrm>
            <a:off x="7872523" y="4459254"/>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10" name="TextBox 9"/>
          <p:cNvSpPr txBox="1"/>
          <p:nvPr/>
        </p:nvSpPr>
        <p:spPr>
          <a:xfrm>
            <a:off x="5565809" y="2837578"/>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11" name="TextBox 10"/>
          <p:cNvSpPr txBox="1"/>
          <p:nvPr/>
        </p:nvSpPr>
        <p:spPr>
          <a:xfrm>
            <a:off x="4651409" y="2837578"/>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12" name="TextBox 11"/>
          <p:cNvSpPr txBox="1"/>
          <p:nvPr/>
        </p:nvSpPr>
        <p:spPr>
          <a:xfrm>
            <a:off x="4663101" y="3675778"/>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13" name="TextBox 12"/>
          <p:cNvSpPr txBox="1"/>
          <p:nvPr/>
        </p:nvSpPr>
        <p:spPr>
          <a:xfrm>
            <a:off x="4667840" y="4475878"/>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14" name="TextBox 13"/>
          <p:cNvSpPr txBox="1"/>
          <p:nvPr/>
        </p:nvSpPr>
        <p:spPr>
          <a:xfrm>
            <a:off x="5577501" y="3675778"/>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15" name="TextBox 14"/>
          <p:cNvSpPr txBox="1"/>
          <p:nvPr/>
        </p:nvSpPr>
        <p:spPr>
          <a:xfrm>
            <a:off x="5582240" y="4475878"/>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16" name="Rectangle 15"/>
          <p:cNvSpPr/>
          <p:nvPr/>
        </p:nvSpPr>
        <p:spPr>
          <a:xfrm>
            <a:off x="4515440" y="3652644"/>
            <a:ext cx="4343400" cy="823233"/>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9915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3637113" y="3046373"/>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26" name="TextBox 25"/>
          <p:cNvSpPr txBox="1"/>
          <p:nvPr/>
        </p:nvSpPr>
        <p:spPr>
          <a:xfrm>
            <a:off x="1371600" y="3048000"/>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22" name="TextBox 21"/>
          <p:cNvSpPr txBox="1"/>
          <p:nvPr/>
        </p:nvSpPr>
        <p:spPr>
          <a:xfrm>
            <a:off x="7920060" y="3048000"/>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15" name="TextBox 14"/>
          <p:cNvSpPr txBox="1"/>
          <p:nvPr/>
        </p:nvSpPr>
        <p:spPr>
          <a:xfrm>
            <a:off x="2761729" y="3048000"/>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2" name="Title 1"/>
          <p:cNvSpPr>
            <a:spLocks noGrp="1"/>
          </p:cNvSpPr>
          <p:nvPr>
            <p:ph type="title"/>
          </p:nvPr>
        </p:nvSpPr>
        <p:spPr/>
        <p:txBody>
          <a:bodyPr/>
          <a:lstStyle/>
          <a:p>
            <a:r>
              <a:rPr lang="en-US" dirty="0"/>
              <a:t>Clicker question</a:t>
            </a:r>
          </a:p>
        </p:txBody>
      </p:sp>
      <p:sp>
        <p:nvSpPr>
          <p:cNvPr id="3" name="Content Placeholder 2"/>
          <p:cNvSpPr>
            <a:spLocks noGrp="1"/>
          </p:cNvSpPr>
          <p:nvPr>
            <p:ph idx="1"/>
          </p:nvPr>
        </p:nvSpPr>
        <p:spPr>
          <a:xfrm>
            <a:off x="152400" y="1600200"/>
            <a:ext cx="8534400" cy="1447799"/>
          </a:xfrm>
        </p:spPr>
        <p:txBody>
          <a:bodyPr>
            <a:normAutofit fontScale="92500"/>
          </a:bodyPr>
          <a:lstStyle/>
          <a:p>
            <a:pPr marL="0" indent="0">
              <a:buNone/>
            </a:pPr>
            <a:r>
              <a:rPr lang="en-US" dirty="0"/>
              <a:t>Considering ALL THREE GENES, do you have:</a:t>
            </a:r>
          </a:p>
          <a:p>
            <a:pPr marL="0" indent="0">
              <a:buNone/>
            </a:pPr>
            <a:r>
              <a:rPr lang="en-US" sz="2400" dirty="0"/>
              <a:t>a.  Zero crossovers   b. One crossover     c. One crossover     d. 2 crossovers</a:t>
            </a:r>
          </a:p>
          <a:p>
            <a:pPr marL="0" indent="0">
              <a:buNone/>
            </a:pPr>
            <a:r>
              <a:rPr lang="en-US" sz="2400" dirty="0"/>
              <a:t>		         (b/t </a:t>
            </a:r>
            <a:r>
              <a:rPr lang="en-US" sz="2400" i="1" dirty="0"/>
              <a:t>A/a</a:t>
            </a:r>
            <a:r>
              <a:rPr lang="en-US" sz="2400" dirty="0"/>
              <a:t> and </a:t>
            </a:r>
            <a:r>
              <a:rPr lang="en-US" sz="2400" i="1" dirty="0"/>
              <a:t>B/b</a:t>
            </a:r>
            <a:r>
              <a:rPr lang="en-US" sz="2400" dirty="0"/>
              <a:t>)    (b/t </a:t>
            </a:r>
            <a:r>
              <a:rPr lang="en-US" sz="2400" i="1" dirty="0"/>
              <a:t>B/b</a:t>
            </a:r>
            <a:r>
              <a:rPr lang="en-US" sz="2400" dirty="0"/>
              <a:t> and </a:t>
            </a:r>
            <a:r>
              <a:rPr lang="en-US" sz="2400" i="1" dirty="0"/>
              <a:t>C/c</a:t>
            </a:r>
            <a:r>
              <a:rPr lang="en-US" sz="2400" dirty="0"/>
              <a:t>)</a:t>
            </a:r>
          </a:p>
        </p:txBody>
      </p:sp>
      <p:sp>
        <p:nvSpPr>
          <p:cNvPr id="4" name="TextBox 3"/>
          <p:cNvSpPr txBox="1"/>
          <p:nvPr/>
        </p:nvSpPr>
        <p:spPr>
          <a:xfrm>
            <a:off x="457200" y="3048000"/>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5" name="TextBox 4"/>
          <p:cNvSpPr txBox="1"/>
          <p:nvPr/>
        </p:nvSpPr>
        <p:spPr>
          <a:xfrm>
            <a:off x="468892" y="3886200"/>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6" name="TextBox 5"/>
          <p:cNvSpPr txBox="1"/>
          <p:nvPr/>
        </p:nvSpPr>
        <p:spPr>
          <a:xfrm>
            <a:off x="473631" y="4686300"/>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7" name="TextBox 6"/>
          <p:cNvSpPr txBox="1"/>
          <p:nvPr/>
        </p:nvSpPr>
        <p:spPr>
          <a:xfrm>
            <a:off x="4814225" y="3048000"/>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8" name="TextBox 7"/>
          <p:cNvSpPr txBox="1"/>
          <p:nvPr/>
        </p:nvSpPr>
        <p:spPr>
          <a:xfrm>
            <a:off x="1383292" y="3886200"/>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9" name="TextBox 8"/>
          <p:cNvSpPr txBox="1"/>
          <p:nvPr/>
        </p:nvSpPr>
        <p:spPr>
          <a:xfrm>
            <a:off x="1388031" y="4686300"/>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13" name="TextBox 12"/>
          <p:cNvSpPr txBox="1"/>
          <p:nvPr/>
        </p:nvSpPr>
        <p:spPr>
          <a:xfrm>
            <a:off x="2743200" y="3886200"/>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14" name="TextBox 13"/>
          <p:cNvSpPr txBox="1"/>
          <p:nvPr/>
        </p:nvSpPr>
        <p:spPr>
          <a:xfrm>
            <a:off x="2747939" y="4686300"/>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16" name="TextBox 15"/>
          <p:cNvSpPr txBox="1"/>
          <p:nvPr/>
        </p:nvSpPr>
        <p:spPr>
          <a:xfrm>
            <a:off x="4794070" y="3886200"/>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19" name="TextBox 18"/>
          <p:cNvSpPr txBox="1"/>
          <p:nvPr/>
        </p:nvSpPr>
        <p:spPr>
          <a:xfrm>
            <a:off x="6996443" y="3048000"/>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20" name="TextBox 19"/>
          <p:cNvSpPr txBox="1"/>
          <p:nvPr/>
        </p:nvSpPr>
        <p:spPr>
          <a:xfrm>
            <a:off x="7936491" y="3824967"/>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23" name="TextBox 22"/>
          <p:cNvSpPr txBox="1"/>
          <p:nvPr/>
        </p:nvSpPr>
        <p:spPr>
          <a:xfrm>
            <a:off x="7021760" y="3834877"/>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24" name="TextBox 23"/>
          <p:cNvSpPr txBox="1"/>
          <p:nvPr/>
        </p:nvSpPr>
        <p:spPr>
          <a:xfrm>
            <a:off x="7936491" y="4686300"/>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21" name="TextBox 20"/>
          <p:cNvSpPr txBox="1"/>
          <p:nvPr/>
        </p:nvSpPr>
        <p:spPr>
          <a:xfrm>
            <a:off x="7012874" y="4686300"/>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25" name="TextBox 24"/>
          <p:cNvSpPr txBox="1"/>
          <p:nvPr/>
        </p:nvSpPr>
        <p:spPr>
          <a:xfrm>
            <a:off x="4819505" y="4686300"/>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28" name="TextBox 27"/>
          <p:cNvSpPr txBox="1"/>
          <p:nvPr/>
        </p:nvSpPr>
        <p:spPr>
          <a:xfrm>
            <a:off x="3654380" y="3879691"/>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29" name="TextBox 28"/>
          <p:cNvSpPr txBox="1"/>
          <p:nvPr/>
        </p:nvSpPr>
        <p:spPr>
          <a:xfrm>
            <a:off x="3659119" y="4679791"/>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30" name="TextBox 29"/>
          <p:cNvSpPr txBox="1"/>
          <p:nvPr/>
        </p:nvSpPr>
        <p:spPr>
          <a:xfrm>
            <a:off x="5779508" y="3041491"/>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31" name="TextBox 30"/>
          <p:cNvSpPr txBox="1"/>
          <p:nvPr/>
        </p:nvSpPr>
        <p:spPr>
          <a:xfrm>
            <a:off x="5791200" y="3879691"/>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32" name="TextBox 31"/>
          <p:cNvSpPr txBox="1"/>
          <p:nvPr/>
        </p:nvSpPr>
        <p:spPr>
          <a:xfrm>
            <a:off x="5821017" y="4686300"/>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Tree>
    <p:extLst>
      <p:ext uri="{BB962C8B-B14F-4D97-AF65-F5344CB8AC3E}">
        <p14:creationId xmlns:p14="http://schemas.microsoft.com/office/powerpoint/2010/main" val="2026822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Double crossovers</a:t>
            </a:r>
          </a:p>
        </p:txBody>
      </p:sp>
      <p:sp>
        <p:nvSpPr>
          <p:cNvPr id="3" name="Content Placeholder 2"/>
          <p:cNvSpPr>
            <a:spLocks noGrp="1"/>
          </p:cNvSpPr>
          <p:nvPr>
            <p:ph idx="1"/>
          </p:nvPr>
        </p:nvSpPr>
        <p:spPr>
          <a:xfrm>
            <a:off x="457200" y="1600200"/>
            <a:ext cx="3733800" cy="4525963"/>
          </a:xfrm>
        </p:spPr>
        <p:txBody>
          <a:bodyPr>
            <a:normAutofit lnSpcReduction="10000"/>
          </a:bodyPr>
          <a:lstStyle/>
          <a:p>
            <a:r>
              <a:rPr lang="en-US" dirty="0"/>
              <a:t>Note that double crossovers:</a:t>
            </a:r>
          </a:p>
          <a:p>
            <a:pPr lvl="1"/>
            <a:r>
              <a:rPr lang="en-US" dirty="0"/>
              <a:t>result in </a:t>
            </a:r>
            <a:r>
              <a:rPr lang="en-US" i="1" dirty="0"/>
              <a:t>parental</a:t>
            </a:r>
            <a:r>
              <a:rPr lang="en-US" dirty="0"/>
              <a:t> combinations of </a:t>
            </a:r>
            <a:r>
              <a:rPr lang="en-US" i="1" dirty="0"/>
              <a:t>AC</a:t>
            </a:r>
            <a:r>
              <a:rPr lang="en-US" dirty="0"/>
              <a:t> and </a:t>
            </a:r>
            <a:r>
              <a:rPr lang="en-US" i="1" dirty="0"/>
              <a:t>ac</a:t>
            </a:r>
            <a:r>
              <a:rPr lang="en-US" dirty="0"/>
              <a:t>.</a:t>
            </a:r>
          </a:p>
          <a:p>
            <a:pPr lvl="1"/>
            <a:r>
              <a:rPr lang="en-US" dirty="0"/>
              <a:t>result in middle gene being recombinant with both flanking genes.</a:t>
            </a:r>
          </a:p>
        </p:txBody>
      </p:sp>
      <p:grpSp>
        <p:nvGrpSpPr>
          <p:cNvPr id="10" name="Group 9"/>
          <p:cNvGrpSpPr>
            <a:grpSpLocks noChangeAspect="1"/>
          </p:cNvGrpSpPr>
          <p:nvPr/>
        </p:nvGrpSpPr>
        <p:grpSpPr>
          <a:xfrm>
            <a:off x="4774286" y="1325100"/>
            <a:ext cx="3895680" cy="5138648"/>
            <a:chOff x="6400800" y="3187148"/>
            <a:chExt cx="1947840" cy="2569324"/>
          </a:xfrm>
        </p:grpSpPr>
        <p:sp>
          <p:nvSpPr>
            <p:cNvPr id="4" name="TextBox 3"/>
            <p:cNvSpPr txBox="1"/>
            <p:nvPr/>
          </p:nvSpPr>
          <p:spPr>
            <a:xfrm>
              <a:off x="7505700" y="3187148"/>
              <a:ext cx="824575" cy="931024"/>
            </a:xfrm>
            <a:prstGeom prst="rect">
              <a:avLst/>
            </a:prstGeom>
            <a:solidFill>
              <a:srgbClr val="FF99CC"/>
            </a:solidFill>
            <a:ln>
              <a:solidFill>
                <a:schemeClr val="tx1"/>
              </a:solidFill>
            </a:ln>
          </p:spPr>
          <p:txBody>
            <a:bodyPr wrap="square" rtlCol="0">
              <a:normAutofit/>
            </a:bodyPr>
            <a:lstStyle/>
            <a:p>
              <a:r>
                <a:rPr lang="en-US" sz="11500" i="1" dirty="0"/>
                <a:t> a </a:t>
              </a:r>
            </a:p>
          </p:txBody>
        </p:sp>
        <p:sp>
          <p:nvSpPr>
            <p:cNvPr id="5" name="TextBox 4"/>
            <p:cNvSpPr txBox="1"/>
            <p:nvPr/>
          </p:nvSpPr>
          <p:spPr>
            <a:xfrm>
              <a:off x="6400800" y="3187148"/>
              <a:ext cx="852157" cy="931024"/>
            </a:xfrm>
            <a:prstGeom prst="rect">
              <a:avLst/>
            </a:prstGeom>
            <a:solidFill>
              <a:srgbClr val="FFFF00"/>
            </a:solidFill>
            <a:ln>
              <a:solidFill>
                <a:schemeClr val="tx1"/>
              </a:solidFill>
            </a:ln>
          </p:spPr>
          <p:txBody>
            <a:bodyPr wrap="none" rtlCol="0">
              <a:normAutofit/>
            </a:bodyPr>
            <a:lstStyle/>
            <a:p>
              <a:r>
                <a:rPr lang="en-US" sz="11500" i="1" dirty="0"/>
                <a:t> A </a:t>
              </a:r>
            </a:p>
          </p:txBody>
        </p:sp>
        <p:sp>
          <p:nvSpPr>
            <p:cNvPr id="6" name="TextBox 5"/>
            <p:cNvSpPr txBox="1"/>
            <p:nvPr/>
          </p:nvSpPr>
          <p:spPr>
            <a:xfrm>
              <a:off x="7522131" y="3964115"/>
              <a:ext cx="826509" cy="931024"/>
            </a:xfrm>
            <a:prstGeom prst="rect">
              <a:avLst/>
            </a:prstGeom>
            <a:solidFill>
              <a:srgbClr val="FFFF00"/>
            </a:solidFill>
            <a:ln>
              <a:solidFill>
                <a:schemeClr val="tx1"/>
              </a:solidFill>
            </a:ln>
          </p:spPr>
          <p:txBody>
            <a:bodyPr wrap="none" rtlCol="0">
              <a:normAutofit/>
            </a:bodyPr>
            <a:lstStyle/>
            <a:p>
              <a:r>
                <a:rPr lang="en-US" sz="11500" i="1" dirty="0"/>
                <a:t> B </a:t>
              </a:r>
            </a:p>
          </p:txBody>
        </p:sp>
        <p:sp>
          <p:nvSpPr>
            <p:cNvPr id="7" name="TextBox 6"/>
            <p:cNvSpPr txBox="1"/>
            <p:nvPr/>
          </p:nvSpPr>
          <p:spPr>
            <a:xfrm>
              <a:off x="6426117" y="3974025"/>
              <a:ext cx="812883" cy="931024"/>
            </a:xfrm>
            <a:prstGeom prst="rect">
              <a:avLst/>
            </a:prstGeom>
            <a:solidFill>
              <a:srgbClr val="FF99CC"/>
            </a:solidFill>
            <a:ln>
              <a:solidFill>
                <a:schemeClr val="tx1"/>
              </a:solidFill>
            </a:ln>
          </p:spPr>
          <p:txBody>
            <a:bodyPr wrap="none" rtlCol="0">
              <a:normAutofit/>
            </a:bodyPr>
            <a:lstStyle/>
            <a:p>
              <a:r>
                <a:rPr lang="en-US" sz="11500" i="1" dirty="0"/>
                <a:t> b </a:t>
              </a:r>
            </a:p>
          </p:txBody>
        </p:sp>
        <p:sp>
          <p:nvSpPr>
            <p:cNvPr id="8" name="TextBox 7"/>
            <p:cNvSpPr txBox="1"/>
            <p:nvPr/>
          </p:nvSpPr>
          <p:spPr>
            <a:xfrm>
              <a:off x="7522131" y="4825448"/>
              <a:ext cx="808144" cy="931024"/>
            </a:xfrm>
            <a:prstGeom prst="rect">
              <a:avLst/>
            </a:prstGeom>
            <a:solidFill>
              <a:srgbClr val="FF99CC"/>
            </a:solidFill>
            <a:ln>
              <a:solidFill>
                <a:schemeClr val="tx1"/>
              </a:solidFill>
            </a:ln>
          </p:spPr>
          <p:txBody>
            <a:bodyPr wrap="square" rtlCol="0">
              <a:normAutofit/>
            </a:bodyPr>
            <a:lstStyle/>
            <a:p>
              <a:r>
                <a:rPr lang="en-US" sz="11500" i="1" dirty="0"/>
                <a:t> c  </a:t>
              </a:r>
            </a:p>
          </p:txBody>
        </p:sp>
        <p:sp>
          <p:nvSpPr>
            <p:cNvPr id="9" name="TextBox 8"/>
            <p:cNvSpPr txBox="1"/>
            <p:nvPr/>
          </p:nvSpPr>
          <p:spPr>
            <a:xfrm>
              <a:off x="6417231" y="4825448"/>
              <a:ext cx="819295" cy="931024"/>
            </a:xfrm>
            <a:prstGeom prst="rect">
              <a:avLst/>
            </a:prstGeom>
            <a:solidFill>
              <a:srgbClr val="FFFF00"/>
            </a:solidFill>
            <a:ln>
              <a:solidFill>
                <a:schemeClr val="tx1"/>
              </a:solidFill>
            </a:ln>
          </p:spPr>
          <p:txBody>
            <a:bodyPr wrap="none" rtlCol="0">
              <a:normAutofit/>
            </a:bodyPr>
            <a:lstStyle/>
            <a:p>
              <a:r>
                <a:rPr lang="en-US" sz="11500" i="1" dirty="0"/>
                <a:t> C </a:t>
              </a:r>
            </a:p>
          </p:txBody>
        </p:sp>
      </p:grpSp>
    </p:spTree>
    <p:extLst>
      <p:ext uri="{BB962C8B-B14F-4D97-AF65-F5344CB8AC3E}">
        <p14:creationId xmlns:p14="http://schemas.microsoft.com/office/powerpoint/2010/main" val="661033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0513" y="435349"/>
            <a:ext cx="8229600" cy="4525963"/>
          </a:xfrm>
        </p:spPr>
        <p:txBody>
          <a:bodyPr/>
          <a:lstStyle/>
          <a:p>
            <a:pPr marL="0" indent="0">
              <a:buNone/>
            </a:pPr>
            <a:r>
              <a:rPr lang="en-US" dirty="0"/>
              <a:t>Considering ONLY genes </a:t>
            </a:r>
            <a:r>
              <a:rPr lang="en-US" i="1" dirty="0"/>
              <a:t>A/a</a:t>
            </a:r>
            <a:r>
              <a:rPr lang="en-US" dirty="0"/>
              <a:t> and </a:t>
            </a:r>
            <a:r>
              <a:rPr lang="en-US" i="1" dirty="0"/>
              <a:t>B/b</a:t>
            </a:r>
            <a:r>
              <a:rPr lang="en-US" dirty="0"/>
              <a:t>, which of the following combinations do you have?</a:t>
            </a:r>
          </a:p>
          <a:p>
            <a:pPr marL="514350" indent="-514350">
              <a:buFont typeface="+mj-lt"/>
              <a:buAutoNum type="alphaUcPeriod"/>
            </a:pPr>
            <a:r>
              <a:rPr lang="en-US" dirty="0"/>
              <a:t> </a:t>
            </a:r>
            <a:r>
              <a:rPr lang="en-US" i="1" dirty="0"/>
              <a:t>AB</a:t>
            </a:r>
            <a:r>
              <a:rPr lang="en-US" dirty="0"/>
              <a:t> (parental)</a:t>
            </a:r>
          </a:p>
          <a:p>
            <a:pPr marL="514350" indent="-514350">
              <a:buFont typeface="+mj-lt"/>
              <a:buAutoNum type="alphaUcPeriod"/>
            </a:pPr>
            <a:r>
              <a:rPr lang="en-US" dirty="0"/>
              <a:t> </a:t>
            </a:r>
            <a:r>
              <a:rPr lang="en-US" i="1" dirty="0" err="1"/>
              <a:t>ab</a:t>
            </a:r>
            <a:r>
              <a:rPr lang="en-US" dirty="0"/>
              <a:t> (parental)</a:t>
            </a:r>
          </a:p>
          <a:p>
            <a:pPr marL="514350" indent="-514350">
              <a:buFont typeface="+mj-lt"/>
              <a:buAutoNum type="alphaUcPeriod"/>
            </a:pPr>
            <a:r>
              <a:rPr lang="en-US" dirty="0"/>
              <a:t> </a:t>
            </a:r>
            <a:r>
              <a:rPr lang="en-US" i="1" dirty="0" err="1"/>
              <a:t>Ab</a:t>
            </a:r>
            <a:r>
              <a:rPr lang="en-US" dirty="0"/>
              <a:t> (recombinant)</a:t>
            </a:r>
          </a:p>
          <a:p>
            <a:pPr marL="514350" indent="-514350">
              <a:buFont typeface="+mj-lt"/>
              <a:buAutoNum type="alphaUcPeriod"/>
            </a:pPr>
            <a:r>
              <a:rPr lang="en-US" dirty="0"/>
              <a:t> </a:t>
            </a:r>
            <a:r>
              <a:rPr lang="en-US" i="1" dirty="0" err="1"/>
              <a:t>aB</a:t>
            </a:r>
            <a:r>
              <a:rPr lang="en-US" dirty="0"/>
              <a:t> (recombinant)</a:t>
            </a:r>
          </a:p>
        </p:txBody>
      </p:sp>
      <p:sp>
        <p:nvSpPr>
          <p:cNvPr id="4" name="TextBox 3"/>
          <p:cNvSpPr txBox="1"/>
          <p:nvPr/>
        </p:nvSpPr>
        <p:spPr>
          <a:xfrm>
            <a:off x="7814995" y="1691022"/>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5" name="TextBox 4"/>
          <p:cNvSpPr txBox="1"/>
          <p:nvPr/>
        </p:nvSpPr>
        <p:spPr>
          <a:xfrm>
            <a:off x="5549482" y="1692649"/>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6" name="TextBox 5"/>
          <p:cNvSpPr txBox="1"/>
          <p:nvPr/>
        </p:nvSpPr>
        <p:spPr>
          <a:xfrm>
            <a:off x="6939611" y="1692649"/>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7" name="TextBox 6"/>
          <p:cNvSpPr txBox="1"/>
          <p:nvPr/>
        </p:nvSpPr>
        <p:spPr>
          <a:xfrm>
            <a:off x="4635082" y="1692649"/>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8" name="TextBox 7"/>
          <p:cNvSpPr txBox="1"/>
          <p:nvPr/>
        </p:nvSpPr>
        <p:spPr>
          <a:xfrm>
            <a:off x="4646774" y="2530849"/>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9" name="TextBox 8"/>
          <p:cNvSpPr txBox="1"/>
          <p:nvPr/>
        </p:nvSpPr>
        <p:spPr>
          <a:xfrm>
            <a:off x="4651513" y="3330949"/>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10" name="TextBox 9"/>
          <p:cNvSpPr txBox="1"/>
          <p:nvPr/>
        </p:nvSpPr>
        <p:spPr>
          <a:xfrm>
            <a:off x="5561174" y="2530849"/>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11" name="TextBox 10"/>
          <p:cNvSpPr txBox="1"/>
          <p:nvPr/>
        </p:nvSpPr>
        <p:spPr>
          <a:xfrm>
            <a:off x="5565913" y="3330949"/>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12" name="TextBox 11"/>
          <p:cNvSpPr txBox="1"/>
          <p:nvPr/>
        </p:nvSpPr>
        <p:spPr>
          <a:xfrm>
            <a:off x="6921082" y="2530849"/>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13" name="TextBox 12"/>
          <p:cNvSpPr txBox="1"/>
          <p:nvPr/>
        </p:nvSpPr>
        <p:spPr>
          <a:xfrm>
            <a:off x="6925821" y="3330949"/>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14" name="TextBox 13"/>
          <p:cNvSpPr txBox="1"/>
          <p:nvPr/>
        </p:nvSpPr>
        <p:spPr>
          <a:xfrm>
            <a:off x="7832262" y="2524340"/>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15" name="TextBox 14"/>
          <p:cNvSpPr txBox="1"/>
          <p:nvPr/>
        </p:nvSpPr>
        <p:spPr>
          <a:xfrm>
            <a:off x="7837001" y="3324440"/>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16" name="TextBox 15"/>
          <p:cNvSpPr txBox="1"/>
          <p:nvPr/>
        </p:nvSpPr>
        <p:spPr>
          <a:xfrm>
            <a:off x="4640148" y="4321549"/>
            <a:ext cx="912429" cy="830997"/>
          </a:xfrm>
          <a:prstGeom prst="rect">
            <a:avLst/>
          </a:prstGeom>
          <a:noFill/>
        </p:spPr>
        <p:txBody>
          <a:bodyPr wrap="none" rtlCol="0">
            <a:spAutoFit/>
          </a:bodyPr>
          <a:lstStyle/>
          <a:p>
            <a:r>
              <a:rPr lang="en-US" sz="2400" b="1" dirty="0"/>
              <a:t>47</a:t>
            </a:r>
          </a:p>
          <a:p>
            <a:r>
              <a:rPr lang="en-US" sz="2400" b="1" dirty="0"/>
              <a:t>(43%)</a:t>
            </a:r>
          </a:p>
        </p:txBody>
      </p:sp>
      <p:sp>
        <p:nvSpPr>
          <p:cNvPr id="17" name="TextBox 16"/>
          <p:cNvSpPr txBox="1"/>
          <p:nvPr/>
        </p:nvSpPr>
        <p:spPr>
          <a:xfrm>
            <a:off x="5606814" y="4321549"/>
            <a:ext cx="912429" cy="830997"/>
          </a:xfrm>
          <a:prstGeom prst="rect">
            <a:avLst/>
          </a:prstGeom>
          <a:noFill/>
        </p:spPr>
        <p:txBody>
          <a:bodyPr wrap="none" rtlCol="0">
            <a:spAutoFit/>
          </a:bodyPr>
          <a:lstStyle/>
          <a:p>
            <a:r>
              <a:rPr lang="en-US" sz="2400" b="1" dirty="0"/>
              <a:t>39</a:t>
            </a:r>
          </a:p>
          <a:p>
            <a:r>
              <a:rPr lang="en-US" sz="2400" b="1" dirty="0"/>
              <a:t>(36%)</a:t>
            </a:r>
          </a:p>
        </p:txBody>
      </p:sp>
      <p:sp>
        <p:nvSpPr>
          <p:cNvPr id="18" name="TextBox 17"/>
          <p:cNvSpPr txBox="1"/>
          <p:nvPr/>
        </p:nvSpPr>
        <p:spPr>
          <a:xfrm>
            <a:off x="7837001" y="4321551"/>
            <a:ext cx="912429" cy="830997"/>
          </a:xfrm>
          <a:prstGeom prst="rect">
            <a:avLst/>
          </a:prstGeom>
          <a:noFill/>
        </p:spPr>
        <p:txBody>
          <a:bodyPr wrap="none" rtlCol="0">
            <a:spAutoFit/>
          </a:bodyPr>
          <a:lstStyle/>
          <a:p>
            <a:r>
              <a:rPr lang="en-US" sz="2400" b="1" dirty="0"/>
              <a:t>11</a:t>
            </a:r>
          </a:p>
          <a:p>
            <a:r>
              <a:rPr lang="en-US" sz="2400" b="1" dirty="0"/>
              <a:t>(</a:t>
            </a:r>
            <a:r>
              <a:rPr lang="en-US" sz="2400" b="1" dirty="0">
                <a:solidFill>
                  <a:srgbClr val="FF0000"/>
                </a:solidFill>
              </a:rPr>
              <a:t>10%</a:t>
            </a:r>
            <a:r>
              <a:rPr lang="en-US" sz="2400" b="1" dirty="0"/>
              <a:t>)</a:t>
            </a:r>
          </a:p>
        </p:txBody>
      </p:sp>
      <p:sp>
        <p:nvSpPr>
          <p:cNvPr id="19" name="TextBox 18"/>
          <p:cNvSpPr txBox="1"/>
          <p:nvPr/>
        </p:nvSpPr>
        <p:spPr>
          <a:xfrm>
            <a:off x="6921082" y="4321551"/>
            <a:ext cx="912429" cy="830997"/>
          </a:xfrm>
          <a:prstGeom prst="rect">
            <a:avLst/>
          </a:prstGeom>
          <a:noFill/>
        </p:spPr>
        <p:txBody>
          <a:bodyPr wrap="none" rtlCol="0">
            <a:spAutoFit/>
          </a:bodyPr>
          <a:lstStyle/>
          <a:p>
            <a:r>
              <a:rPr lang="en-US" sz="2400" b="1" dirty="0"/>
              <a:t>12</a:t>
            </a:r>
          </a:p>
          <a:p>
            <a:r>
              <a:rPr lang="en-US" sz="2400" b="1" dirty="0"/>
              <a:t>(</a:t>
            </a:r>
            <a:r>
              <a:rPr lang="en-US" sz="2400" b="1" dirty="0">
                <a:solidFill>
                  <a:srgbClr val="FF0000"/>
                </a:solidFill>
              </a:rPr>
              <a:t>11%</a:t>
            </a:r>
            <a:r>
              <a:rPr lang="en-US" sz="2400" b="1" dirty="0"/>
              <a:t>)</a:t>
            </a:r>
          </a:p>
        </p:txBody>
      </p:sp>
      <p:sp>
        <p:nvSpPr>
          <p:cNvPr id="20" name="Rectangle 19"/>
          <p:cNvSpPr/>
          <p:nvPr/>
        </p:nvSpPr>
        <p:spPr>
          <a:xfrm>
            <a:off x="4499113" y="3254749"/>
            <a:ext cx="4343400" cy="106680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6137130" y="5083549"/>
            <a:ext cx="2705383" cy="461665"/>
          </a:xfrm>
          <a:prstGeom prst="rect">
            <a:avLst/>
          </a:prstGeom>
          <a:noFill/>
        </p:spPr>
        <p:txBody>
          <a:bodyPr wrap="square" rtlCol="0">
            <a:spAutoFit/>
          </a:bodyPr>
          <a:lstStyle/>
          <a:p>
            <a:r>
              <a:rPr lang="en-US" sz="2400" b="1" dirty="0">
                <a:solidFill>
                  <a:srgbClr val="FF0000"/>
                </a:solidFill>
              </a:rPr>
              <a:t>= 21% recombinant</a:t>
            </a:r>
          </a:p>
        </p:txBody>
      </p:sp>
    </p:spTree>
    <p:extLst>
      <p:ext uri="{BB962C8B-B14F-4D97-AF65-F5344CB8AC3E}">
        <p14:creationId xmlns:p14="http://schemas.microsoft.com/office/powerpoint/2010/main" val="1891864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28578"/>
            <a:ext cx="8229600" cy="4525963"/>
          </a:xfrm>
        </p:spPr>
        <p:txBody>
          <a:bodyPr/>
          <a:lstStyle/>
          <a:p>
            <a:pPr marL="0" indent="0">
              <a:buNone/>
            </a:pPr>
            <a:r>
              <a:rPr lang="en-US" dirty="0"/>
              <a:t>Considering ONLY genes </a:t>
            </a:r>
            <a:r>
              <a:rPr lang="en-US" i="1" dirty="0"/>
              <a:t>B/b</a:t>
            </a:r>
            <a:r>
              <a:rPr lang="en-US" dirty="0"/>
              <a:t> and </a:t>
            </a:r>
            <a:r>
              <a:rPr lang="en-US" i="1" dirty="0"/>
              <a:t>C/c</a:t>
            </a:r>
            <a:r>
              <a:rPr lang="en-US" dirty="0"/>
              <a:t>, which of the following combinations do you have?</a:t>
            </a:r>
          </a:p>
          <a:p>
            <a:pPr marL="514350" indent="-514350">
              <a:buFont typeface="+mj-lt"/>
              <a:buAutoNum type="alphaUcPeriod"/>
            </a:pPr>
            <a:r>
              <a:rPr lang="en-US" dirty="0"/>
              <a:t> </a:t>
            </a:r>
            <a:r>
              <a:rPr lang="en-US" i="1" dirty="0"/>
              <a:t>BC </a:t>
            </a:r>
            <a:r>
              <a:rPr lang="en-US" dirty="0"/>
              <a:t>(parental)</a:t>
            </a:r>
          </a:p>
          <a:p>
            <a:pPr marL="514350" indent="-514350">
              <a:buFont typeface="+mj-lt"/>
              <a:buAutoNum type="alphaUcPeriod"/>
            </a:pPr>
            <a:r>
              <a:rPr lang="en-US" dirty="0"/>
              <a:t> </a:t>
            </a:r>
            <a:r>
              <a:rPr lang="en-US" i="1" dirty="0" err="1"/>
              <a:t>bc</a:t>
            </a:r>
            <a:r>
              <a:rPr lang="en-US" dirty="0"/>
              <a:t> (parental)</a:t>
            </a:r>
          </a:p>
          <a:p>
            <a:pPr marL="514350" indent="-514350">
              <a:buFont typeface="+mj-lt"/>
              <a:buAutoNum type="alphaUcPeriod"/>
            </a:pPr>
            <a:r>
              <a:rPr lang="en-US" dirty="0"/>
              <a:t> </a:t>
            </a:r>
            <a:r>
              <a:rPr lang="en-US" i="1" dirty="0" err="1"/>
              <a:t>Bc</a:t>
            </a:r>
            <a:r>
              <a:rPr lang="en-US" dirty="0"/>
              <a:t> (recombinant)</a:t>
            </a:r>
          </a:p>
          <a:p>
            <a:pPr marL="514350" indent="-514350">
              <a:buFont typeface="+mj-lt"/>
              <a:buAutoNum type="alphaUcPeriod"/>
            </a:pPr>
            <a:r>
              <a:rPr lang="en-US" dirty="0"/>
              <a:t> </a:t>
            </a:r>
            <a:r>
              <a:rPr lang="en-US" i="1" dirty="0" err="1"/>
              <a:t>bC</a:t>
            </a:r>
            <a:r>
              <a:rPr lang="en-US" dirty="0"/>
              <a:t> (recombinant)</a:t>
            </a:r>
          </a:p>
        </p:txBody>
      </p:sp>
      <p:sp>
        <p:nvSpPr>
          <p:cNvPr id="4" name="TextBox 3"/>
          <p:cNvSpPr txBox="1"/>
          <p:nvPr/>
        </p:nvSpPr>
        <p:spPr>
          <a:xfrm>
            <a:off x="6846091" y="1669254"/>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5" name="TextBox 4"/>
          <p:cNvSpPr txBox="1"/>
          <p:nvPr/>
        </p:nvSpPr>
        <p:spPr>
          <a:xfrm>
            <a:off x="6825936" y="2507454"/>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6" name="TextBox 5"/>
          <p:cNvSpPr txBox="1"/>
          <p:nvPr/>
        </p:nvSpPr>
        <p:spPr>
          <a:xfrm>
            <a:off x="6851371" y="3307554"/>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7" name="TextBox 6"/>
          <p:cNvSpPr txBox="1"/>
          <p:nvPr/>
        </p:nvSpPr>
        <p:spPr>
          <a:xfrm>
            <a:off x="7811374" y="1662745"/>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8" name="TextBox 7"/>
          <p:cNvSpPr txBox="1"/>
          <p:nvPr/>
        </p:nvSpPr>
        <p:spPr>
          <a:xfrm>
            <a:off x="7823066" y="2500945"/>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9" name="TextBox 8"/>
          <p:cNvSpPr txBox="1"/>
          <p:nvPr/>
        </p:nvSpPr>
        <p:spPr>
          <a:xfrm>
            <a:off x="7852883" y="3307554"/>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10" name="TextBox 9"/>
          <p:cNvSpPr txBox="1"/>
          <p:nvPr/>
        </p:nvSpPr>
        <p:spPr>
          <a:xfrm>
            <a:off x="5546169" y="1685878"/>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11" name="TextBox 10"/>
          <p:cNvSpPr txBox="1"/>
          <p:nvPr/>
        </p:nvSpPr>
        <p:spPr>
          <a:xfrm>
            <a:off x="4631769" y="1685878"/>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12" name="TextBox 11"/>
          <p:cNvSpPr txBox="1"/>
          <p:nvPr/>
        </p:nvSpPr>
        <p:spPr>
          <a:xfrm>
            <a:off x="4643461" y="2524078"/>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13" name="TextBox 12"/>
          <p:cNvSpPr txBox="1"/>
          <p:nvPr/>
        </p:nvSpPr>
        <p:spPr>
          <a:xfrm>
            <a:off x="4648200" y="3324178"/>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14" name="TextBox 13"/>
          <p:cNvSpPr txBox="1"/>
          <p:nvPr/>
        </p:nvSpPr>
        <p:spPr>
          <a:xfrm>
            <a:off x="5557861" y="2524078"/>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15" name="TextBox 14"/>
          <p:cNvSpPr txBox="1"/>
          <p:nvPr/>
        </p:nvSpPr>
        <p:spPr>
          <a:xfrm>
            <a:off x="5562600" y="3324178"/>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16" name="Rectangle 15"/>
          <p:cNvSpPr/>
          <p:nvPr/>
        </p:nvSpPr>
        <p:spPr>
          <a:xfrm>
            <a:off x="4495800" y="1457337"/>
            <a:ext cx="4343400" cy="106680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4636835" y="4314778"/>
            <a:ext cx="912429" cy="830997"/>
          </a:xfrm>
          <a:prstGeom prst="rect">
            <a:avLst/>
          </a:prstGeom>
          <a:noFill/>
        </p:spPr>
        <p:txBody>
          <a:bodyPr wrap="none" rtlCol="0">
            <a:spAutoFit/>
          </a:bodyPr>
          <a:lstStyle/>
          <a:p>
            <a:r>
              <a:rPr lang="en-US" sz="2400" b="1" dirty="0"/>
              <a:t>53</a:t>
            </a:r>
          </a:p>
          <a:p>
            <a:r>
              <a:rPr lang="en-US" sz="2400" b="1" dirty="0"/>
              <a:t>(50%)</a:t>
            </a:r>
          </a:p>
        </p:txBody>
      </p:sp>
      <p:sp>
        <p:nvSpPr>
          <p:cNvPr id="18" name="TextBox 17"/>
          <p:cNvSpPr txBox="1"/>
          <p:nvPr/>
        </p:nvSpPr>
        <p:spPr>
          <a:xfrm>
            <a:off x="5603501" y="4314778"/>
            <a:ext cx="912429" cy="830997"/>
          </a:xfrm>
          <a:prstGeom prst="rect">
            <a:avLst/>
          </a:prstGeom>
          <a:noFill/>
        </p:spPr>
        <p:txBody>
          <a:bodyPr wrap="none" rtlCol="0">
            <a:spAutoFit/>
          </a:bodyPr>
          <a:lstStyle/>
          <a:p>
            <a:r>
              <a:rPr lang="en-US" sz="2400" b="1" dirty="0"/>
              <a:t>40</a:t>
            </a:r>
          </a:p>
          <a:p>
            <a:r>
              <a:rPr lang="en-US" sz="2400" b="1" dirty="0"/>
              <a:t>(37%)</a:t>
            </a:r>
          </a:p>
        </p:txBody>
      </p:sp>
      <p:sp>
        <p:nvSpPr>
          <p:cNvPr id="19" name="TextBox 18"/>
          <p:cNvSpPr txBox="1"/>
          <p:nvPr/>
        </p:nvSpPr>
        <p:spPr>
          <a:xfrm>
            <a:off x="7878486" y="4314777"/>
            <a:ext cx="756938" cy="830997"/>
          </a:xfrm>
          <a:prstGeom prst="rect">
            <a:avLst/>
          </a:prstGeom>
          <a:noFill/>
        </p:spPr>
        <p:txBody>
          <a:bodyPr wrap="none" rtlCol="0">
            <a:spAutoFit/>
          </a:bodyPr>
          <a:lstStyle/>
          <a:p>
            <a:r>
              <a:rPr lang="en-US" sz="2400" b="1" dirty="0"/>
              <a:t>9</a:t>
            </a:r>
          </a:p>
          <a:p>
            <a:r>
              <a:rPr lang="en-US" sz="2400" b="1" dirty="0"/>
              <a:t>(</a:t>
            </a:r>
            <a:r>
              <a:rPr lang="en-US" sz="2400" b="1" dirty="0">
                <a:solidFill>
                  <a:srgbClr val="FF0000"/>
                </a:solidFill>
              </a:rPr>
              <a:t>8%</a:t>
            </a:r>
            <a:r>
              <a:rPr lang="en-US" sz="2400" b="1" dirty="0"/>
              <a:t>)</a:t>
            </a:r>
          </a:p>
        </p:txBody>
      </p:sp>
      <p:sp>
        <p:nvSpPr>
          <p:cNvPr id="20" name="TextBox 19"/>
          <p:cNvSpPr txBox="1"/>
          <p:nvPr/>
        </p:nvSpPr>
        <p:spPr>
          <a:xfrm>
            <a:off x="6853908" y="4314780"/>
            <a:ext cx="756938" cy="830997"/>
          </a:xfrm>
          <a:prstGeom prst="rect">
            <a:avLst/>
          </a:prstGeom>
          <a:noFill/>
        </p:spPr>
        <p:txBody>
          <a:bodyPr wrap="none" rtlCol="0">
            <a:spAutoFit/>
          </a:bodyPr>
          <a:lstStyle/>
          <a:p>
            <a:r>
              <a:rPr lang="en-US" sz="2400" b="1" dirty="0"/>
              <a:t>4</a:t>
            </a:r>
          </a:p>
          <a:p>
            <a:r>
              <a:rPr lang="en-US" sz="2400" b="1" dirty="0"/>
              <a:t>(</a:t>
            </a:r>
            <a:r>
              <a:rPr lang="en-US" sz="2400" b="1" dirty="0">
                <a:solidFill>
                  <a:srgbClr val="FF0000"/>
                </a:solidFill>
              </a:rPr>
              <a:t>4%</a:t>
            </a:r>
            <a:r>
              <a:rPr lang="en-US" sz="2400" b="1" dirty="0"/>
              <a:t>)</a:t>
            </a:r>
          </a:p>
        </p:txBody>
      </p:sp>
      <p:sp>
        <p:nvSpPr>
          <p:cNvPr id="21" name="TextBox 20"/>
          <p:cNvSpPr txBox="1"/>
          <p:nvPr/>
        </p:nvSpPr>
        <p:spPr>
          <a:xfrm>
            <a:off x="6133817" y="5076778"/>
            <a:ext cx="2705383" cy="461665"/>
          </a:xfrm>
          <a:prstGeom prst="rect">
            <a:avLst/>
          </a:prstGeom>
          <a:noFill/>
        </p:spPr>
        <p:txBody>
          <a:bodyPr wrap="square" rtlCol="0">
            <a:spAutoFit/>
          </a:bodyPr>
          <a:lstStyle/>
          <a:p>
            <a:r>
              <a:rPr lang="en-US" sz="2400" b="1" dirty="0">
                <a:solidFill>
                  <a:srgbClr val="FF0000"/>
                </a:solidFill>
              </a:rPr>
              <a:t>= 12% recombinant</a:t>
            </a:r>
          </a:p>
        </p:txBody>
      </p:sp>
    </p:spTree>
    <p:extLst>
      <p:ext uri="{BB962C8B-B14F-4D97-AF65-F5344CB8AC3E}">
        <p14:creationId xmlns:p14="http://schemas.microsoft.com/office/powerpoint/2010/main" val="3780955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840" y="435349"/>
            <a:ext cx="8229600" cy="4525963"/>
          </a:xfrm>
        </p:spPr>
        <p:txBody>
          <a:bodyPr/>
          <a:lstStyle/>
          <a:p>
            <a:pPr marL="0" indent="0">
              <a:buNone/>
            </a:pPr>
            <a:r>
              <a:rPr lang="en-US" dirty="0"/>
              <a:t>Considering ONLY genes </a:t>
            </a:r>
            <a:r>
              <a:rPr lang="en-US" i="1" dirty="0"/>
              <a:t>A/a</a:t>
            </a:r>
            <a:r>
              <a:rPr lang="en-US" dirty="0"/>
              <a:t> and </a:t>
            </a:r>
            <a:r>
              <a:rPr lang="en-US" i="1" dirty="0"/>
              <a:t>C/c</a:t>
            </a:r>
            <a:r>
              <a:rPr lang="en-US" dirty="0"/>
              <a:t>, which of the following combinations do you have?</a:t>
            </a:r>
          </a:p>
          <a:p>
            <a:pPr marL="514350" indent="-514350">
              <a:buFont typeface="+mj-lt"/>
              <a:buAutoNum type="alphaUcPeriod"/>
            </a:pPr>
            <a:r>
              <a:rPr lang="en-US" dirty="0"/>
              <a:t> </a:t>
            </a:r>
            <a:r>
              <a:rPr lang="en-US" i="1" dirty="0"/>
              <a:t>AC</a:t>
            </a:r>
            <a:r>
              <a:rPr lang="en-US" dirty="0"/>
              <a:t> (parental)</a:t>
            </a:r>
          </a:p>
          <a:p>
            <a:pPr marL="514350" indent="-514350">
              <a:buFont typeface="+mj-lt"/>
              <a:buAutoNum type="alphaUcPeriod"/>
            </a:pPr>
            <a:r>
              <a:rPr lang="en-US" dirty="0"/>
              <a:t> </a:t>
            </a:r>
            <a:r>
              <a:rPr lang="en-US" i="1" dirty="0"/>
              <a:t>ac</a:t>
            </a:r>
            <a:r>
              <a:rPr lang="en-US" dirty="0"/>
              <a:t> (parental)</a:t>
            </a:r>
          </a:p>
          <a:p>
            <a:pPr marL="514350" indent="-514350">
              <a:buFont typeface="+mj-lt"/>
              <a:buAutoNum type="alphaUcPeriod"/>
            </a:pPr>
            <a:r>
              <a:rPr lang="en-US" dirty="0"/>
              <a:t> </a:t>
            </a:r>
            <a:r>
              <a:rPr lang="en-US" i="1" dirty="0"/>
              <a:t>Ac</a:t>
            </a:r>
            <a:r>
              <a:rPr lang="en-US" dirty="0"/>
              <a:t> (recombinant)</a:t>
            </a:r>
          </a:p>
          <a:p>
            <a:pPr marL="514350" indent="-514350">
              <a:buFont typeface="+mj-lt"/>
              <a:buAutoNum type="alphaUcPeriod"/>
            </a:pPr>
            <a:r>
              <a:rPr lang="en-US" dirty="0"/>
              <a:t> </a:t>
            </a:r>
            <a:r>
              <a:rPr lang="en-US" i="1" dirty="0" err="1"/>
              <a:t>aC</a:t>
            </a:r>
            <a:r>
              <a:rPr lang="en-US" dirty="0"/>
              <a:t> (recombinant)</a:t>
            </a:r>
          </a:p>
        </p:txBody>
      </p:sp>
      <p:sp>
        <p:nvSpPr>
          <p:cNvPr id="4" name="TextBox 3"/>
          <p:cNvSpPr txBox="1"/>
          <p:nvPr/>
        </p:nvSpPr>
        <p:spPr>
          <a:xfrm>
            <a:off x="6865731" y="1676025"/>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5" name="TextBox 4"/>
          <p:cNvSpPr txBox="1"/>
          <p:nvPr/>
        </p:nvSpPr>
        <p:spPr>
          <a:xfrm>
            <a:off x="6845576" y="2514225"/>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6" name="TextBox 5"/>
          <p:cNvSpPr txBox="1"/>
          <p:nvPr/>
        </p:nvSpPr>
        <p:spPr>
          <a:xfrm>
            <a:off x="6871011" y="3314325"/>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7" name="TextBox 6"/>
          <p:cNvSpPr txBox="1"/>
          <p:nvPr/>
        </p:nvSpPr>
        <p:spPr>
          <a:xfrm>
            <a:off x="7831014" y="1669516"/>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8" name="TextBox 7"/>
          <p:cNvSpPr txBox="1"/>
          <p:nvPr/>
        </p:nvSpPr>
        <p:spPr>
          <a:xfrm>
            <a:off x="7842706" y="2507716"/>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9" name="TextBox 8"/>
          <p:cNvSpPr txBox="1"/>
          <p:nvPr/>
        </p:nvSpPr>
        <p:spPr>
          <a:xfrm>
            <a:off x="7872523" y="3314325"/>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10" name="TextBox 9"/>
          <p:cNvSpPr txBox="1"/>
          <p:nvPr/>
        </p:nvSpPr>
        <p:spPr>
          <a:xfrm>
            <a:off x="5565809" y="1692649"/>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11" name="TextBox 10"/>
          <p:cNvSpPr txBox="1"/>
          <p:nvPr/>
        </p:nvSpPr>
        <p:spPr>
          <a:xfrm>
            <a:off x="4651409" y="1692649"/>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12" name="TextBox 11"/>
          <p:cNvSpPr txBox="1"/>
          <p:nvPr/>
        </p:nvSpPr>
        <p:spPr>
          <a:xfrm>
            <a:off x="4663101" y="2530849"/>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13" name="TextBox 12"/>
          <p:cNvSpPr txBox="1"/>
          <p:nvPr/>
        </p:nvSpPr>
        <p:spPr>
          <a:xfrm>
            <a:off x="4667840" y="3330949"/>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14" name="TextBox 13"/>
          <p:cNvSpPr txBox="1"/>
          <p:nvPr/>
        </p:nvSpPr>
        <p:spPr>
          <a:xfrm>
            <a:off x="5577501" y="2530849"/>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15" name="TextBox 14"/>
          <p:cNvSpPr txBox="1"/>
          <p:nvPr/>
        </p:nvSpPr>
        <p:spPr>
          <a:xfrm>
            <a:off x="5582240" y="3330949"/>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16" name="Rectangle 15"/>
          <p:cNvSpPr/>
          <p:nvPr/>
        </p:nvSpPr>
        <p:spPr>
          <a:xfrm>
            <a:off x="4515440" y="2507715"/>
            <a:ext cx="4343400" cy="823233"/>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4656475" y="4321549"/>
            <a:ext cx="912429" cy="830997"/>
          </a:xfrm>
          <a:prstGeom prst="rect">
            <a:avLst/>
          </a:prstGeom>
          <a:noFill/>
        </p:spPr>
        <p:txBody>
          <a:bodyPr wrap="none" rtlCol="0">
            <a:spAutoFit/>
          </a:bodyPr>
          <a:lstStyle/>
          <a:p>
            <a:r>
              <a:rPr lang="en-US" sz="2400" b="1" dirty="0"/>
              <a:t>46</a:t>
            </a:r>
          </a:p>
          <a:p>
            <a:r>
              <a:rPr lang="en-US" sz="2400" b="1" dirty="0"/>
              <a:t>(43%)</a:t>
            </a:r>
          </a:p>
        </p:txBody>
      </p:sp>
      <p:sp>
        <p:nvSpPr>
          <p:cNvPr id="18" name="TextBox 17"/>
          <p:cNvSpPr txBox="1"/>
          <p:nvPr/>
        </p:nvSpPr>
        <p:spPr>
          <a:xfrm>
            <a:off x="5623141" y="4321549"/>
            <a:ext cx="912429" cy="830997"/>
          </a:xfrm>
          <a:prstGeom prst="rect">
            <a:avLst/>
          </a:prstGeom>
          <a:noFill/>
        </p:spPr>
        <p:txBody>
          <a:bodyPr wrap="none" rtlCol="0">
            <a:spAutoFit/>
          </a:bodyPr>
          <a:lstStyle/>
          <a:p>
            <a:r>
              <a:rPr lang="en-US" sz="2400" b="1" dirty="0"/>
              <a:t>33</a:t>
            </a:r>
          </a:p>
          <a:p>
            <a:r>
              <a:rPr lang="en-US" sz="2400" b="1" dirty="0"/>
              <a:t>(31%)</a:t>
            </a:r>
          </a:p>
        </p:txBody>
      </p:sp>
      <p:sp>
        <p:nvSpPr>
          <p:cNvPr id="19" name="TextBox 18"/>
          <p:cNvSpPr txBox="1"/>
          <p:nvPr/>
        </p:nvSpPr>
        <p:spPr>
          <a:xfrm>
            <a:off x="7898126" y="4321548"/>
            <a:ext cx="912429" cy="830997"/>
          </a:xfrm>
          <a:prstGeom prst="rect">
            <a:avLst/>
          </a:prstGeom>
          <a:noFill/>
        </p:spPr>
        <p:txBody>
          <a:bodyPr wrap="none" rtlCol="0">
            <a:spAutoFit/>
          </a:bodyPr>
          <a:lstStyle/>
          <a:p>
            <a:r>
              <a:rPr lang="en-US" sz="2400" b="1" dirty="0"/>
              <a:t>14</a:t>
            </a:r>
          </a:p>
          <a:p>
            <a:r>
              <a:rPr lang="en-US" sz="2400" b="1" dirty="0"/>
              <a:t>(</a:t>
            </a:r>
            <a:r>
              <a:rPr lang="en-US" sz="2400" b="1" dirty="0">
                <a:solidFill>
                  <a:srgbClr val="FF0000"/>
                </a:solidFill>
              </a:rPr>
              <a:t>13%</a:t>
            </a:r>
            <a:r>
              <a:rPr lang="en-US" sz="2400" b="1" dirty="0"/>
              <a:t>)</a:t>
            </a:r>
          </a:p>
        </p:txBody>
      </p:sp>
      <p:sp>
        <p:nvSpPr>
          <p:cNvPr id="20" name="TextBox 19"/>
          <p:cNvSpPr txBox="1"/>
          <p:nvPr/>
        </p:nvSpPr>
        <p:spPr>
          <a:xfrm>
            <a:off x="6873548" y="4321551"/>
            <a:ext cx="912429" cy="830997"/>
          </a:xfrm>
          <a:prstGeom prst="rect">
            <a:avLst/>
          </a:prstGeom>
          <a:noFill/>
        </p:spPr>
        <p:txBody>
          <a:bodyPr wrap="none" rtlCol="0">
            <a:spAutoFit/>
          </a:bodyPr>
          <a:lstStyle/>
          <a:p>
            <a:r>
              <a:rPr lang="en-US" sz="2400" b="1" dirty="0"/>
              <a:t>15</a:t>
            </a:r>
          </a:p>
          <a:p>
            <a:r>
              <a:rPr lang="en-US" sz="2400" b="1" dirty="0"/>
              <a:t>(</a:t>
            </a:r>
            <a:r>
              <a:rPr lang="en-US" sz="2400" b="1" dirty="0">
                <a:solidFill>
                  <a:srgbClr val="FF0000"/>
                </a:solidFill>
              </a:rPr>
              <a:t>14%</a:t>
            </a:r>
            <a:r>
              <a:rPr lang="en-US" sz="2400" b="1" dirty="0"/>
              <a:t>)</a:t>
            </a:r>
          </a:p>
        </p:txBody>
      </p:sp>
      <p:sp>
        <p:nvSpPr>
          <p:cNvPr id="21" name="TextBox 20"/>
          <p:cNvSpPr txBox="1"/>
          <p:nvPr/>
        </p:nvSpPr>
        <p:spPr>
          <a:xfrm>
            <a:off x="6153457" y="5083549"/>
            <a:ext cx="2705383" cy="461665"/>
          </a:xfrm>
          <a:prstGeom prst="rect">
            <a:avLst/>
          </a:prstGeom>
          <a:noFill/>
        </p:spPr>
        <p:txBody>
          <a:bodyPr wrap="square" rtlCol="0">
            <a:spAutoFit/>
          </a:bodyPr>
          <a:lstStyle/>
          <a:p>
            <a:r>
              <a:rPr lang="en-US" sz="2400" b="1" dirty="0">
                <a:solidFill>
                  <a:srgbClr val="FF0000"/>
                </a:solidFill>
              </a:rPr>
              <a:t>= 27% recombinant</a:t>
            </a:r>
          </a:p>
        </p:txBody>
      </p:sp>
    </p:spTree>
    <p:extLst>
      <p:ext uri="{BB962C8B-B14F-4D97-AF65-F5344CB8AC3E}">
        <p14:creationId xmlns:p14="http://schemas.microsoft.com/office/powerpoint/2010/main" val="2315271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3647285" y="1757482"/>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26" name="TextBox 25"/>
          <p:cNvSpPr txBox="1"/>
          <p:nvPr/>
        </p:nvSpPr>
        <p:spPr>
          <a:xfrm>
            <a:off x="1381772" y="1759109"/>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22" name="TextBox 21"/>
          <p:cNvSpPr txBox="1"/>
          <p:nvPr/>
        </p:nvSpPr>
        <p:spPr>
          <a:xfrm>
            <a:off x="7930232" y="1759109"/>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15" name="TextBox 14"/>
          <p:cNvSpPr txBox="1"/>
          <p:nvPr/>
        </p:nvSpPr>
        <p:spPr>
          <a:xfrm>
            <a:off x="2771901" y="1759109"/>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3" name="Content Placeholder 2"/>
          <p:cNvSpPr>
            <a:spLocks noGrp="1"/>
          </p:cNvSpPr>
          <p:nvPr>
            <p:ph idx="1"/>
          </p:nvPr>
        </p:nvSpPr>
        <p:spPr>
          <a:xfrm>
            <a:off x="210235" y="304800"/>
            <a:ext cx="8534400" cy="1447799"/>
          </a:xfrm>
        </p:spPr>
        <p:txBody>
          <a:bodyPr>
            <a:normAutofit fontScale="92500"/>
          </a:bodyPr>
          <a:lstStyle/>
          <a:p>
            <a:pPr marL="0" indent="0">
              <a:buNone/>
            </a:pPr>
            <a:r>
              <a:rPr lang="en-US" dirty="0"/>
              <a:t>Considering ALL THREE GENES, do you have:</a:t>
            </a:r>
          </a:p>
          <a:p>
            <a:pPr marL="0" indent="0">
              <a:buNone/>
            </a:pPr>
            <a:r>
              <a:rPr lang="en-US" sz="2400" dirty="0"/>
              <a:t>a.  Zero crossovers   b. One crossover     c. One crossover     d. 2 crossovers</a:t>
            </a:r>
          </a:p>
          <a:p>
            <a:pPr marL="0" indent="0">
              <a:buNone/>
            </a:pPr>
            <a:r>
              <a:rPr lang="en-US" sz="2400" dirty="0"/>
              <a:t>		         (b/t </a:t>
            </a:r>
            <a:r>
              <a:rPr lang="en-US" sz="2400" i="1" dirty="0"/>
              <a:t>A/a</a:t>
            </a:r>
            <a:r>
              <a:rPr lang="en-US" sz="2400" dirty="0"/>
              <a:t> and </a:t>
            </a:r>
            <a:r>
              <a:rPr lang="en-US" sz="2400" i="1" dirty="0"/>
              <a:t>B/b</a:t>
            </a:r>
            <a:r>
              <a:rPr lang="en-US" sz="2400" dirty="0"/>
              <a:t>)    (b/t </a:t>
            </a:r>
            <a:r>
              <a:rPr lang="en-US" sz="2400" i="1" dirty="0"/>
              <a:t>B/b</a:t>
            </a:r>
            <a:r>
              <a:rPr lang="en-US" sz="2400" dirty="0"/>
              <a:t> and </a:t>
            </a:r>
            <a:r>
              <a:rPr lang="en-US" sz="2400" i="1" dirty="0"/>
              <a:t>C/c</a:t>
            </a:r>
            <a:r>
              <a:rPr lang="en-US" sz="2400" dirty="0"/>
              <a:t>)</a:t>
            </a:r>
          </a:p>
        </p:txBody>
      </p:sp>
      <p:sp>
        <p:nvSpPr>
          <p:cNvPr id="4" name="TextBox 3"/>
          <p:cNvSpPr txBox="1"/>
          <p:nvPr/>
        </p:nvSpPr>
        <p:spPr>
          <a:xfrm>
            <a:off x="467372" y="1759109"/>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5" name="TextBox 4"/>
          <p:cNvSpPr txBox="1"/>
          <p:nvPr/>
        </p:nvSpPr>
        <p:spPr>
          <a:xfrm>
            <a:off x="479064" y="2597309"/>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6" name="TextBox 5"/>
          <p:cNvSpPr txBox="1"/>
          <p:nvPr/>
        </p:nvSpPr>
        <p:spPr>
          <a:xfrm>
            <a:off x="483803" y="3397409"/>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7" name="TextBox 6"/>
          <p:cNvSpPr txBox="1"/>
          <p:nvPr/>
        </p:nvSpPr>
        <p:spPr>
          <a:xfrm>
            <a:off x="4824397" y="1759109"/>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8" name="TextBox 7"/>
          <p:cNvSpPr txBox="1"/>
          <p:nvPr/>
        </p:nvSpPr>
        <p:spPr>
          <a:xfrm>
            <a:off x="1393464" y="2597309"/>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9" name="TextBox 8"/>
          <p:cNvSpPr txBox="1"/>
          <p:nvPr/>
        </p:nvSpPr>
        <p:spPr>
          <a:xfrm>
            <a:off x="1398203" y="3397409"/>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13" name="TextBox 12"/>
          <p:cNvSpPr txBox="1"/>
          <p:nvPr/>
        </p:nvSpPr>
        <p:spPr>
          <a:xfrm>
            <a:off x="2753372" y="2597309"/>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14" name="TextBox 13"/>
          <p:cNvSpPr txBox="1"/>
          <p:nvPr/>
        </p:nvSpPr>
        <p:spPr>
          <a:xfrm>
            <a:off x="2758111" y="3397409"/>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16" name="TextBox 15"/>
          <p:cNvSpPr txBox="1"/>
          <p:nvPr/>
        </p:nvSpPr>
        <p:spPr>
          <a:xfrm>
            <a:off x="4804242" y="2597309"/>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19" name="TextBox 18"/>
          <p:cNvSpPr txBox="1"/>
          <p:nvPr/>
        </p:nvSpPr>
        <p:spPr>
          <a:xfrm>
            <a:off x="7006615" y="1759109"/>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20" name="TextBox 19"/>
          <p:cNvSpPr txBox="1"/>
          <p:nvPr/>
        </p:nvSpPr>
        <p:spPr>
          <a:xfrm>
            <a:off x="7946663" y="2536076"/>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23" name="TextBox 22"/>
          <p:cNvSpPr txBox="1"/>
          <p:nvPr/>
        </p:nvSpPr>
        <p:spPr>
          <a:xfrm>
            <a:off x="7031932" y="2545986"/>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24" name="TextBox 23"/>
          <p:cNvSpPr txBox="1"/>
          <p:nvPr/>
        </p:nvSpPr>
        <p:spPr>
          <a:xfrm>
            <a:off x="7946663" y="3397409"/>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21" name="TextBox 20"/>
          <p:cNvSpPr txBox="1"/>
          <p:nvPr/>
        </p:nvSpPr>
        <p:spPr>
          <a:xfrm>
            <a:off x="7023046" y="3397409"/>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25" name="TextBox 24"/>
          <p:cNvSpPr txBox="1"/>
          <p:nvPr/>
        </p:nvSpPr>
        <p:spPr>
          <a:xfrm>
            <a:off x="4829677" y="3397409"/>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28" name="TextBox 27"/>
          <p:cNvSpPr txBox="1"/>
          <p:nvPr/>
        </p:nvSpPr>
        <p:spPr>
          <a:xfrm>
            <a:off x="3664552" y="2590800"/>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29" name="TextBox 28"/>
          <p:cNvSpPr txBox="1"/>
          <p:nvPr/>
        </p:nvSpPr>
        <p:spPr>
          <a:xfrm>
            <a:off x="3669291" y="3390900"/>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30" name="TextBox 29"/>
          <p:cNvSpPr txBox="1"/>
          <p:nvPr/>
        </p:nvSpPr>
        <p:spPr>
          <a:xfrm>
            <a:off x="5789680" y="1752600"/>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31" name="TextBox 30"/>
          <p:cNvSpPr txBox="1"/>
          <p:nvPr/>
        </p:nvSpPr>
        <p:spPr>
          <a:xfrm>
            <a:off x="5801372" y="2590800"/>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32" name="TextBox 31"/>
          <p:cNvSpPr txBox="1"/>
          <p:nvPr/>
        </p:nvSpPr>
        <p:spPr>
          <a:xfrm>
            <a:off x="5831189" y="3397409"/>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33" name="TextBox 32"/>
          <p:cNvSpPr txBox="1"/>
          <p:nvPr/>
        </p:nvSpPr>
        <p:spPr>
          <a:xfrm>
            <a:off x="1078943" y="4328435"/>
            <a:ext cx="912429" cy="830997"/>
          </a:xfrm>
          <a:prstGeom prst="rect">
            <a:avLst/>
          </a:prstGeom>
          <a:noFill/>
        </p:spPr>
        <p:txBody>
          <a:bodyPr wrap="none" rtlCol="0">
            <a:spAutoFit/>
          </a:bodyPr>
          <a:lstStyle/>
          <a:p>
            <a:r>
              <a:rPr lang="en-US" sz="2400" b="1" dirty="0">
                <a:solidFill>
                  <a:srgbClr val="FF0000"/>
                </a:solidFill>
              </a:rPr>
              <a:t>71</a:t>
            </a:r>
          </a:p>
          <a:p>
            <a:r>
              <a:rPr lang="en-US" sz="2400" b="1" dirty="0"/>
              <a:t>(66%)</a:t>
            </a:r>
          </a:p>
        </p:txBody>
      </p:sp>
      <p:sp>
        <p:nvSpPr>
          <p:cNvPr id="34" name="TextBox 33"/>
          <p:cNvSpPr txBox="1"/>
          <p:nvPr/>
        </p:nvSpPr>
        <p:spPr>
          <a:xfrm>
            <a:off x="3364943" y="4328433"/>
            <a:ext cx="912429" cy="830997"/>
          </a:xfrm>
          <a:prstGeom prst="rect">
            <a:avLst/>
          </a:prstGeom>
          <a:noFill/>
        </p:spPr>
        <p:txBody>
          <a:bodyPr wrap="none" rtlCol="0">
            <a:spAutoFit/>
          </a:bodyPr>
          <a:lstStyle/>
          <a:p>
            <a:r>
              <a:rPr lang="en-US" sz="2400" b="1" dirty="0">
                <a:solidFill>
                  <a:srgbClr val="FF0000"/>
                </a:solidFill>
              </a:rPr>
              <a:t>21</a:t>
            </a:r>
          </a:p>
          <a:p>
            <a:r>
              <a:rPr lang="en-US" sz="2400" b="1" dirty="0"/>
              <a:t>(20%)</a:t>
            </a:r>
          </a:p>
        </p:txBody>
      </p:sp>
      <p:sp>
        <p:nvSpPr>
          <p:cNvPr id="35" name="TextBox 34"/>
          <p:cNvSpPr txBox="1"/>
          <p:nvPr/>
        </p:nvSpPr>
        <p:spPr>
          <a:xfrm>
            <a:off x="7711434" y="4328432"/>
            <a:ext cx="756938" cy="830997"/>
          </a:xfrm>
          <a:prstGeom prst="rect">
            <a:avLst/>
          </a:prstGeom>
          <a:noFill/>
        </p:spPr>
        <p:txBody>
          <a:bodyPr wrap="none" rtlCol="0">
            <a:spAutoFit/>
          </a:bodyPr>
          <a:lstStyle/>
          <a:p>
            <a:r>
              <a:rPr lang="en-US" sz="2400" b="1" dirty="0">
                <a:solidFill>
                  <a:srgbClr val="FF0000"/>
                </a:solidFill>
              </a:rPr>
              <a:t>4</a:t>
            </a:r>
          </a:p>
          <a:p>
            <a:r>
              <a:rPr lang="en-US" sz="2400" b="1" dirty="0"/>
              <a:t>(4%)</a:t>
            </a:r>
          </a:p>
        </p:txBody>
      </p:sp>
      <p:sp>
        <p:nvSpPr>
          <p:cNvPr id="36" name="TextBox 35"/>
          <p:cNvSpPr txBox="1"/>
          <p:nvPr/>
        </p:nvSpPr>
        <p:spPr>
          <a:xfrm>
            <a:off x="5496572" y="4321924"/>
            <a:ext cx="912429" cy="830997"/>
          </a:xfrm>
          <a:prstGeom prst="rect">
            <a:avLst/>
          </a:prstGeom>
          <a:noFill/>
        </p:spPr>
        <p:txBody>
          <a:bodyPr wrap="none" rtlCol="0">
            <a:spAutoFit/>
          </a:bodyPr>
          <a:lstStyle/>
          <a:p>
            <a:r>
              <a:rPr lang="en-US" sz="2400" b="1" dirty="0">
                <a:solidFill>
                  <a:srgbClr val="FF0000"/>
                </a:solidFill>
              </a:rPr>
              <a:t>11</a:t>
            </a:r>
          </a:p>
          <a:p>
            <a:r>
              <a:rPr lang="en-US" sz="2400" b="1" dirty="0"/>
              <a:t>(10%)</a:t>
            </a:r>
          </a:p>
        </p:txBody>
      </p:sp>
      <p:sp>
        <p:nvSpPr>
          <p:cNvPr id="37" name="TextBox 36"/>
          <p:cNvSpPr txBox="1"/>
          <p:nvPr/>
        </p:nvSpPr>
        <p:spPr>
          <a:xfrm>
            <a:off x="5185283" y="5159432"/>
            <a:ext cx="2673489" cy="461665"/>
          </a:xfrm>
          <a:prstGeom prst="rect">
            <a:avLst/>
          </a:prstGeom>
          <a:noFill/>
        </p:spPr>
        <p:txBody>
          <a:bodyPr wrap="none" rtlCol="0">
            <a:spAutoFit/>
          </a:bodyPr>
          <a:lstStyle/>
          <a:p>
            <a:r>
              <a:rPr lang="en-US" sz="2400" b="1" dirty="0"/>
              <a:t>Total progeny = 107</a:t>
            </a:r>
          </a:p>
        </p:txBody>
      </p:sp>
    </p:spTree>
    <p:extLst>
      <p:ext uri="{BB962C8B-B14F-4D97-AF65-F5344CB8AC3E}">
        <p14:creationId xmlns:p14="http://schemas.microsoft.com/office/powerpoint/2010/main" val="2349965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3657457" y="1757482"/>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26" name="TextBox 25"/>
          <p:cNvSpPr txBox="1"/>
          <p:nvPr/>
        </p:nvSpPr>
        <p:spPr>
          <a:xfrm>
            <a:off x="1391944" y="1759109"/>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22" name="TextBox 21"/>
          <p:cNvSpPr txBox="1"/>
          <p:nvPr/>
        </p:nvSpPr>
        <p:spPr>
          <a:xfrm>
            <a:off x="7940404" y="1759109"/>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15" name="TextBox 14"/>
          <p:cNvSpPr txBox="1"/>
          <p:nvPr/>
        </p:nvSpPr>
        <p:spPr>
          <a:xfrm>
            <a:off x="2782073" y="1759109"/>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3" name="Content Placeholder 2"/>
          <p:cNvSpPr>
            <a:spLocks noGrp="1"/>
          </p:cNvSpPr>
          <p:nvPr>
            <p:ph idx="1"/>
          </p:nvPr>
        </p:nvSpPr>
        <p:spPr>
          <a:xfrm>
            <a:off x="220407" y="304800"/>
            <a:ext cx="8534400" cy="1447799"/>
          </a:xfrm>
        </p:spPr>
        <p:txBody>
          <a:bodyPr>
            <a:normAutofit fontScale="92500"/>
          </a:bodyPr>
          <a:lstStyle/>
          <a:p>
            <a:pPr marL="0" indent="0">
              <a:buNone/>
            </a:pPr>
            <a:r>
              <a:rPr lang="en-US" dirty="0"/>
              <a:t>Considering ALL THREE GENES, do you have:</a:t>
            </a:r>
          </a:p>
          <a:p>
            <a:pPr marL="0" indent="0">
              <a:buNone/>
            </a:pPr>
            <a:r>
              <a:rPr lang="en-US" sz="2400" dirty="0"/>
              <a:t>a.  Zero crossovers   b. One crossover     c. One crossover     d. 2 crossovers</a:t>
            </a:r>
          </a:p>
          <a:p>
            <a:pPr marL="0" indent="0">
              <a:buNone/>
            </a:pPr>
            <a:r>
              <a:rPr lang="en-US" sz="2400" dirty="0"/>
              <a:t>		         (b/t </a:t>
            </a:r>
            <a:r>
              <a:rPr lang="en-US" sz="2400" i="1" dirty="0"/>
              <a:t>A/a</a:t>
            </a:r>
            <a:r>
              <a:rPr lang="en-US" sz="2400" dirty="0"/>
              <a:t> and </a:t>
            </a:r>
            <a:r>
              <a:rPr lang="en-US" sz="2400" i="1" dirty="0"/>
              <a:t>B/b</a:t>
            </a:r>
            <a:r>
              <a:rPr lang="en-US" sz="2400" dirty="0"/>
              <a:t>)    (b/t </a:t>
            </a:r>
            <a:r>
              <a:rPr lang="en-US" sz="2400" i="1" dirty="0"/>
              <a:t>B/b</a:t>
            </a:r>
            <a:r>
              <a:rPr lang="en-US" sz="2400" dirty="0"/>
              <a:t> and </a:t>
            </a:r>
            <a:r>
              <a:rPr lang="en-US" sz="2400" i="1" dirty="0"/>
              <a:t>C/c</a:t>
            </a:r>
            <a:r>
              <a:rPr lang="en-US" sz="2400" dirty="0"/>
              <a:t>)</a:t>
            </a:r>
          </a:p>
        </p:txBody>
      </p:sp>
      <p:sp>
        <p:nvSpPr>
          <p:cNvPr id="4" name="TextBox 3"/>
          <p:cNvSpPr txBox="1"/>
          <p:nvPr/>
        </p:nvSpPr>
        <p:spPr>
          <a:xfrm>
            <a:off x="477544" y="1759109"/>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5" name="TextBox 4"/>
          <p:cNvSpPr txBox="1"/>
          <p:nvPr/>
        </p:nvSpPr>
        <p:spPr>
          <a:xfrm>
            <a:off x="489236" y="2597309"/>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6" name="TextBox 5"/>
          <p:cNvSpPr txBox="1"/>
          <p:nvPr/>
        </p:nvSpPr>
        <p:spPr>
          <a:xfrm>
            <a:off x="493975" y="3397409"/>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7" name="TextBox 6"/>
          <p:cNvSpPr txBox="1"/>
          <p:nvPr/>
        </p:nvSpPr>
        <p:spPr>
          <a:xfrm>
            <a:off x="4834569" y="1759109"/>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8" name="TextBox 7"/>
          <p:cNvSpPr txBox="1"/>
          <p:nvPr/>
        </p:nvSpPr>
        <p:spPr>
          <a:xfrm>
            <a:off x="1403636" y="2597309"/>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9" name="TextBox 8"/>
          <p:cNvSpPr txBox="1"/>
          <p:nvPr/>
        </p:nvSpPr>
        <p:spPr>
          <a:xfrm>
            <a:off x="1408375" y="3397409"/>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13" name="TextBox 12"/>
          <p:cNvSpPr txBox="1"/>
          <p:nvPr/>
        </p:nvSpPr>
        <p:spPr>
          <a:xfrm>
            <a:off x="2763544" y="2597309"/>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14" name="TextBox 13"/>
          <p:cNvSpPr txBox="1"/>
          <p:nvPr/>
        </p:nvSpPr>
        <p:spPr>
          <a:xfrm>
            <a:off x="2768283" y="3397409"/>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16" name="TextBox 15"/>
          <p:cNvSpPr txBox="1"/>
          <p:nvPr/>
        </p:nvSpPr>
        <p:spPr>
          <a:xfrm>
            <a:off x="4814414" y="2597309"/>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19" name="TextBox 18"/>
          <p:cNvSpPr txBox="1"/>
          <p:nvPr/>
        </p:nvSpPr>
        <p:spPr>
          <a:xfrm>
            <a:off x="7016787" y="1759109"/>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20" name="TextBox 19"/>
          <p:cNvSpPr txBox="1"/>
          <p:nvPr/>
        </p:nvSpPr>
        <p:spPr>
          <a:xfrm>
            <a:off x="7956835" y="2536076"/>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23" name="TextBox 22"/>
          <p:cNvSpPr txBox="1"/>
          <p:nvPr/>
        </p:nvSpPr>
        <p:spPr>
          <a:xfrm>
            <a:off x="7042104" y="2545986"/>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24" name="TextBox 23"/>
          <p:cNvSpPr txBox="1"/>
          <p:nvPr/>
        </p:nvSpPr>
        <p:spPr>
          <a:xfrm>
            <a:off x="7956835" y="3397409"/>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21" name="TextBox 20"/>
          <p:cNvSpPr txBox="1"/>
          <p:nvPr/>
        </p:nvSpPr>
        <p:spPr>
          <a:xfrm>
            <a:off x="7033218" y="3397409"/>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25" name="TextBox 24"/>
          <p:cNvSpPr txBox="1"/>
          <p:nvPr/>
        </p:nvSpPr>
        <p:spPr>
          <a:xfrm>
            <a:off x="4839849" y="3397409"/>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28" name="TextBox 27"/>
          <p:cNvSpPr txBox="1"/>
          <p:nvPr/>
        </p:nvSpPr>
        <p:spPr>
          <a:xfrm>
            <a:off x="3674724" y="2590800"/>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29" name="TextBox 28"/>
          <p:cNvSpPr txBox="1"/>
          <p:nvPr/>
        </p:nvSpPr>
        <p:spPr>
          <a:xfrm>
            <a:off x="3679463" y="3390900"/>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30" name="TextBox 29"/>
          <p:cNvSpPr txBox="1"/>
          <p:nvPr/>
        </p:nvSpPr>
        <p:spPr>
          <a:xfrm>
            <a:off x="5799852" y="1752600"/>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31" name="TextBox 30"/>
          <p:cNvSpPr txBox="1"/>
          <p:nvPr/>
        </p:nvSpPr>
        <p:spPr>
          <a:xfrm>
            <a:off x="5811544" y="2590800"/>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32" name="TextBox 31"/>
          <p:cNvSpPr txBox="1"/>
          <p:nvPr/>
        </p:nvSpPr>
        <p:spPr>
          <a:xfrm>
            <a:off x="5841361" y="3397409"/>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33" name="TextBox 32"/>
          <p:cNvSpPr txBox="1"/>
          <p:nvPr/>
        </p:nvSpPr>
        <p:spPr>
          <a:xfrm>
            <a:off x="1089115" y="4328435"/>
            <a:ext cx="912429" cy="830997"/>
          </a:xfrm>
          <a:prstGeom prst="rect">
            <a:avLst/>
          </a:prstGeom>
          <a:noFill/>
        </p:spPr>
        <p:txBody>
          <a:bodyPr wrap="none" rtlCol="0">
            <a:spAutoFit/>
          </a:bodyPr>
          <a:lstStyle/>
          <a:p>
            <a:r>
              <a:rPr lang="en-US" sz="2400" b="1" dirty="0"/>
              <a:t>71</a:t>
            </a:r>
          </a:p>
          <a:p>
            <a:r>
              <a:rPr lang="en-US" sz="2400" b="1" dirty="0"/>
              <a:t>(66%)</a:t>
            </a:r>
          </a:p>
        </p:txBody>
      </p:sp>
      <p:sp>
        <p:nvSpPr>
          <p:cNvPr id="34" name="TextBox 33"/>
          <p:cNvSpPr txBox="1"/>
          <p:nvPr/>
        </p:nvSpPr>
        <p:spPr>
          <a:xfrm>
            <a:off x="3375115" y="4328433"/>
            <a:ext cx="912429" cy="830997"/>
          </a:xfrm>
          <a:prstGeom prst="rect">
            <a:avLst/>
          </a:prstGeom>
          <a:noFill/>
        </p:spPr>
        <p:txBody>
          <a:bodyPr wrap="none" rtlCol="0">
            <a:spAutoFit/>
          </a:bodyPr>
          <a:lstStyle/>
          <a:p>
            <a:r>
              <a:rPr lang="en-US" sz="2400" b="1" dirty="0">
                <a:solidFill>
                  <a:srgbClr val="FF0000"/>
                </a:solidFill>
              </a:rPr>
              <a:t>21</a:t>
            </a:r>
          </a:p>
          <a:p>
            <a:r>
              <a:rPr lang="en-US" sz="2400" b="1" dirty="0">
                <a:solidFill>
                  <a:srgbClr val="FF0000"/>
                </a:solidFill>
              </a:rPr>
              <a:t>(20%)</a:t>
            </a:r>
          </a:p>
        </p:txBody>
      </p:sp>
      <p:sp>
        <p:nvSpPr>
          <p:cNvPr id="35" name="TextBox 34"/>
          <p:cNvSpPr txBox="1"/>
          <p:nvPr/>
        </p:nvSpPr>
        <p:spPr>
          <a:xfrm>
            <a:off x="7721606" y="4328432"/>
            <a:ext cx="756938" cy="830997"/>
          </a:xfrm>
          <a:prstGeom prst="rect">
            <a:avLst/>
          </a:prstGeom>
          <a:noFill/>
        </p:spPr>
        <p:txBody>
          <a:bodyPr wrap="none" rtlCol="0">
            <a:spAutoFit/>
          </a:bodyPr>
          <a:lstStyle/>
          <a:p>
            <a:r>
              <a:rPr lang="en-US" sz="2400" b="1" dirty="0">
                <a:solidFill>
                  <a:srgbClr val="FF0000"/>
                </a:solidFill>
              </a:rPr>
              <a:t>4</a:t>
            </a:r>
          </a:p>
          <a:p>
            <a:r>
              <a:rPr lang="en-US" sz="2400" b="1" dirty="0">
                <a:solidFill>
                  <a:srgbClr val="FF0000"/>
                </a:solidFill>
              </a:rPr>
              <a:t>(4%)</a:t>
            </a:r>
          </a:p>
        </p:txBody>
      </p:sp>
      <p:sp>
        <p:nvSpPr>
          <p:cNvPr id="36" name="TextBox 35"/>
          <p:cNvSpPr txBox="1"/>
          <p:nvPr/>
        </p:nvSpPr>
        <p:spPr>
          <a:xfrm>
            <a:off x="5506744" y="4321924"/>
            <a:ext cx="912429" cy="830997"/>
          </a:xfrm>
          <a:prstGeom prst="rect">
            <a:avLst/>
          </a:prstGeom>
          <a:noFill/>
        </p:spPr>
        <p:txBody>
          <a:bodyPr wrap="none" rtlCol="0">
            <a:spAutoFit/>
          </a:bodyPr>
          <a:lstStyle/>
          <a:p>
            <a:r>
              <a:rPr lang="en-US" sz="2400" b="1" dirty="0"/>
              <a:t>11</a:t>
            </a:r>
          </a:p>
          <a:p>
            <a:r>
              <a:rPr lang="en-US" sz="2400" b="1" dirty="0"/>
              <a:t>(10%)</a:t>
            </a:r>
          </a:p>
        </p:txBody>
      </p:sp>
      <p:sp>
        <p:nvSpPr>
          <p:cNvPr id="37" name="TextBox 36"/>
          <p:cNvSpPr txBox="1"/>
          <p:nvPr/>
        </p:nvSpPr>
        <p:spPr>
          <a:xfrm>
            <a:off x="248944" y="5159432"/>
            <a:ext cx="3793026" cy="461665"/>
          </a:xfrm>
          <a:prstGeom prst="rect">
            <a:avLst/>
          </a:prstGeom>
          <a:noFill/>
        </p:spPr>
        <p:txBody>
          <a:bodyPr wrap="none" rtlCol="0">
            <a:spAutoFit/>
          </a:bodyPr>
          <a:lstStyle/>
          <a:p>
            <a:r>
              <a:rPr lang="en-US" sz="2400" dirty="0">
                <a:solidFill>
                  <a:srgbClr val="002060"/>
                </a:solidFill>
              </a:rPr>
              <a:t>r(</a:t>
            </a:r>
            <a:r>
              <a:rPr lang="en-US" sz="2400" i="1" dirty="0">
                <a:solidFill>
                  <a:srgbClr val="002060"/>
                </a:solidFill>
              </a:rPr>
              <a:t>A – B</a:t>
            </a:r>
            <a:r>
              <a:rPr lang="en-US" sz="2400" dirty="0">
                <a:solidFill>
                  <a:srgbClr val="002060"/>
                </a:solidFill>
              </a:rPr>
              <a:t>) = (21+4)/107 = </a:t>
            </a:r>
            <a:r>
              <a:rPr lang="en-US" sz="2400" b="1" dirty="0">
                <a:solidFill>
                  <a:srgbClr val="002060"/>
                </a:solidFill>
              </a:rPr>
              <a:t>0.233</a:t>
            </a:r>
          </a:p>
        </p:txBody>
      </p:sp>
      <p:sp>
        <p:nvSpPr>
          <p:cNvPr id="38" name="TextBox 37"/>
          <p:cNvSpPr txBox="1"/>
          <p:nvPr/>
        </p:nvSpPr>
        <p:spPr>
          <a:xfrm>
            <a:off x="5195455" y="5159432"/>
            <a:ext cx="2673489" cy="461665"/>
          </a:xfrm>
          <a:prstGeom prst="rect">
            <a:avLst/>
          </a:prstGeom>
          <a:noFill/>
        </p:spPr>
        <p:txBody>
          <a:bodyPr wrap="none" rtlCol="0">
            <a:spAutoFit/>
          </a:bodyPr>
          <a:lstStyle/>
          <a:p>
            <a:r>
              <a:rPr lang="en-US" sz="2400" b="1" dirty="0"/>
              <a:t>Total progeny = </a:t>
            </a:r>
            <a:r>
              <a:rPr lang="en-US" sz="2400" b="1" dirty="0">
                <a:solidFill>
                  <a:srgbClr val="FF0000"/>
                </a:solidFill>
              </a:rPr>
              <a:t>107</a:t>
            </a:r>
          </a:p>
        </p:txBody>
      </p:sp>
    </p:spTree>
    <p:extLst>
      <p:ext uri="{BB962C8B-B14F-4D97-AF65-F5344CB8AC3E}">
        <p14:creationId xmlns:p14="http://schemas.microsoft.com/office/powerpoint/2010/main" val="2471320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3665650" y="1755194"/>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26" name="TextBox 25"/>
          <p:cNvSpPr txBox="1"/>
          <p:nvPr/>
        </p:nvSpPr>
        <p:spPr>
          <a:xfrm>
            <a:off x="1400137" y="1756821"/>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22" name="TextBox 21"/>
          <p:cNvSpPr txBox="1"/>
          <p:nvPr/>
        </p:nvSpPr>
        <p:spPr>
          <a:xfrm>
            <a:off x="7948597" y="1756821"/>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15" name="TextBox 14"/>
          <p:cNvSpPr txBox="1"/>
          <p:nvPr/>
        </p:nvSpPr>
        <p:spPr>
          <a:xfrm>
            <a:off x="2790266" y="1756821"/>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3" name="Content Placeholder 2"/>
          <p:cNvSpPr>
            <a:spLocks noGrp="1"/>
          </p:cNvSpPr>
          <p:nvPr>
            <p:ph idx="1"/>
          </p:nvPr>
        </p:nvSpPr>
        <p:spPr>
          <a:xfrm>
            <a:off x="228600" y="302512"/>
            <a:ext cx="8534400" cy="1447799"/>
          </a:xfrm>
        </p:spPr>
        <p:txBody>
          <a:bodyPr>
            <a:normAutofit fontScale="92500"/>
          </a:bodyPr>
          <a:lstStyle/>
          <a:p>
            <a:pPr marL="0" indent="0">
              <a:buNone/>
            </a:pPr>
            <a:r>
              <a:rPr lang="en-US" dirty="0"/>
              <a:t>Considering ALL THREE GENES, do you have:</a:t>
            </a:r>
          </a:p>
          <a:p>
            <a:pPr marL="0" indent="0">
              <a:buNone/>
            </a:pPr>
            <a:r>
              <a:rPr lang="en-US" sz="2400" dirty="0"/>
              <a:t>a.  Zero crossovers   b. One crossover     c. One crossover     d. 2 crossovers</a:t>
            </a:r>
          </a:p>
          <a:p>
            <a:pPr marL="0" indent="0">
              <a:buNone/>
            </a:pPr>
            <a:r>
              <a:rPr lang="en-US" sz="2400" dirty="0"/>
              <a:t>		         (b/t </a:t>
            </a:r>
            <a:r>
              <a:rPr lang="en-US" sz="2400" i="1" dirty="0"/>
              <a:t>A/a</a:t>
            </a:r>
            <a:r>
              <a:rPr lang="en-US" sz="2400" dirty="0"/>
              <a:t> and </a:t>
            </a:r>
            <a:r>
              <a:rPr lang="en-US" sz="2400" i="1" dirty="0"/>
              <a:t>B/b</a:t>
            </a:r>
            <a:r>
              <a:rPr lang="en-US" sz="2400" dirty="0"/>
              <a:t>)    (b/t </a:t>
            </a:r>
            <a:r>
              <a:rPr lang="en-US" sz="2400" i="1" dirty="0"/>
              <a:t>B/b</a:t>
            </a:r>
            <a:r>
              <a:rPr lang="en-US" sz="2400" dirty="0"/>
              <a:t> and </a:t>
            </a:r>
            <a:r>
              <a:rPr lang="en-US" sz="2400" i="1" dirty="0"/>
              <a:t>C/c</a:t>
            </a:r>
            <a:r>
              <a:rPr lang="en-US" sz="2400" dirty="0"/>
              <a:t>)</a:t>
            </a:r>
          </a:p>
        </p:txBody>
      </p:sp>
      <p:sp>
        <p:nvSpPr>
          <p:cNvPr id="4" name="TextBox 3"/>
          <p:cNvSpPr txBox="1"/>
          <p:nvPr/>
        </p:nvSpPr>
        <p:spPr>
          <a:xfrm>
            <a:off x="485737" y="1756821"/>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5" name="TextBox 4"/>
          <p:cNvSpPr txBox="1"/>
          <p:nvPr/>
        </p:nvSpPr>
        <p:spPr>
          <a:xfrm>
            <a:off x="497429" y="2595021"/>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6" name="TextBox 5"/>
          <p:cNvSpPr txBox="1"/>
          <p:nvPr/>
        </p:nvSpPr>
        <p:spPr>
          <a:xfrm>
            <a:off x="502168" y="3395121"/>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7" name="TextBox 6"/>
          <p:cNvSpPr txBox="1"/>
          <p:nvPr/>
        </p:nvSpPr>
        <p:spPr>
          <a:xfrm>
            <a:off x="4842762" y="1756821"/>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8" name="TextBox 7"/>
          <p:cNvSpPr txBox="1"/>
          <p:nvPr/>
        </p:nvSpPr>
        <p:spPr>
          <a:xfrm>
            <a:off x="1411829" y="2595021"/>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9" name="TextBox 8"/>
          <p:cNvSpPr txBox="1"/>
          <p:nvPr/>
        </p:nvSpPr>
        <p:spPr>
          <a:xfrm>
            <a:off x="1416568" y="3395121"/>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13" name="TextBox 12"/>
          <p:cNvSpPr txBox="1"/>
          <p:nvPr/>
        </p:nvSpPr>
        <p:spPr>
          <a:xfrm>
            <a:off x="2771737" y="2595021"/>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14" name="TextBox 13"/>
          <p:cNvSpPr txBox="1"/>
          <p:nvPr/>
        </p:nvSpPr>
        <p:spPr>
          <a:xfrm>
            <a:off x="2776476" y="3395121"/>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16" name="TextBox 15"/>
          <p:cNvSpPr txBox="1"/>
          <p:nvPr/>
        </p:nvSpPr>
        <p:spPr>
          <a:xfrm>
            <a:off x="4822607" y="2595021"/>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19" name="TextBox 18"/>
          <p:cNvSpPr txBox="1"/>
          <p:nvPr/>
        </p:nvSpPr>
        <p:spPr>
          <a:xfrm>
            <a:off x="7024980" y="1756821"/>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20" name="TextBox 19"/>
          <p:cNvSpPr txBox="1"/>
          <p:nvPr/>
        </p:nvSpPr>
        <p:spPr>
          <a:xfrm>
            <a:off x="7965028" y="2533788"/>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23" name="TextBox 22"/>
          <p:cNvSpPr txBox="1"/>
          <p:nvPr/>
        </p:nvSpPr>
        <p:spPr>
          <a:xfrm>
            <a:off x="7050297" y="2543698"/>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24" name="TextBox 23"/>
          <p:cNvSpPr txBox="1"/>
          <p:nvPr/>
        </p:nvSpPr>
        <p:spPr>
          <a:xfrm>
            <a:off x="7965028" y="3395121"/>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21" name="TextBox 20"/>
          <p:cNvSpPr txBox="1"/>
          <p:nvPr/>
        </p:nvSpPr>
        <p:spPr>
          <a:xfrm>
            <a:off x="7041411" y="3395121"/>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25" name="TextBox 24"/>
          <p:cNvSpPr txBox="1"/>
          <p:nvPr/>
        </p:nvSpPr>
        <p:spPr>
          <a:xfrm>
            <a:off x="4848042" y="3395121"/>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28" name="TextBox 27"/>
          <p:cNvSpPr txBox="1"/>
          <p:nvPr/>
        </p:nvSpPr>
        <p:spPr>
          <a:xfrm>
            <a:off x="3682917" y="2588512"/>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29" name="TextBox 28"/>
          <p:cNvSpPr txBox="1"/>
          <p:nvPr/>
        </p:nvSpPr>
        <p:spPr>
          <a:xfrm>
            <a:off x="3687656" y="3388612"/>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30" name="TextBox 29"/>
          <p:cNvSpPr txBox="1"/>
          <p:nvPr/>
        </p:nvSpPr>
        <p:spPr>
          <a:xfrm>
            <a:off x="5808045" y="1750312"/>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31" name="TextBox 30"/>
          <p:cNvSpPr txBox="1"/>
          <p:nvPr/>
        </p:nvSpPr>
        <p:spPr>
          <a:xfrm>
            <a:off x="5819737" y="2588512"/>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32" name="TextBox 31"/>
          <p:cNvSpPr txBox="1"/>
          <p:nvPr/>
        </p:nvSpPr>
        <p:spPr>
          <a:xfrm>
            <a:off x="5849554" y="3395121"/>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33" name="TextBox 32"/>
          <p:cNvSpPr txBox="1"/>
          <p:nvPr/>
        </p:nvSpPr>
        <p:spPr>
          <a:xfrm>
            <a:off x="1097308" y="4326147"/>
            <a:ext cx="912429" cy="830997"/>
          </a:xfrm>
          <a:prstGeom prst="rect">
            <a:avLst/>
          </a:prstGeom>
          <a:noFill/>
        </p:spPr>
        <p:txBody>
          <a:bodyPr wrap="none" rtlCol="0">
            <a:spAutoFit/>
          </a:bodyPr>
          <a:lstStyle/>
          <a:p>
            <a:r>
              <a:rPr lang="en-US" sz="2400" b="1" dirty="0"/>
              <a:t>71</a:t>
            </a:r>
          </a:p>
          <a:p>
            <a:r>
              <a:rPr lang="en-US" sz="2400" b="1" dirty="0"/>
              <a:t>(66%)</a:t>
            </a:r>
          </a:p>
        </p:txBody>
      </p:sp>
      <p:sp>
        <p:nvSpPr>
          <p:cNvPr id="34" name="TextBox 33"/>
          <p:cNvSpPr txBox="1"/>
          <p:nvPr/>
        </p:nvSpPr>
        <p:spPr>
          <a:xfrm>
            <a:off x="3383308" y="4326145"/>
            <a:ext cx="912429" cy="830997"/>
          </a:xfrm>
          <a:prstGeom prst="rect">
            <a:avLst/>
          </a:prstGeom>
          <a:noFill/>
        </p:spPr>
        <p:txBody>
          <a:bodyPr wrap="none" rtlCol="0">
            <a:spAutoFit/>
          </a:bodyPr>
          <a:lstStyle/>
          <a:p>
            <a:r>
              <a:rPr lang="en-US" sz="2400" b="1" dirty="0"/>
              <a:t>21</a:t>
            </a:r>
          </a:p>
          <a:p>
            <a:r>
              <a:rPr lang="en-US" sz="2400" b="1" dirty="0"/>
              <a:t>(20%)</a:t>
            </a:r>
          </a:p>
        </p:txBody>
      </p:sp>
      <p:sp>
        <p:nvSpPr>
          <p:cNvPr id="35" name="TextBox 34"/>
          <p:cNvSpPr txBox="1"/>
          <p:nvPr/>
        </p:nvSpPr>
        <p:spPr>
          <a:xfrm>
            <a:off x="7729799" y="4326144"/>
            <a:ext cx="756938" cy="830997"/>
          </a:xfrm>
          <a:prstGeom prst="rect">
            <a:avLst/>
          </a:prstGeom>
          <a:noFill/>
        </p:spPr>
        <p:txBody>
          <a:bodyPr wrap="none" rtlCol="0">
            <a:spAutoFit/>
          </a:bodyPr>
          <a:lstStyle/>
          <a:p>
            <a:r>
              <a:rPr lang="en-US" sz="2400" b="1" dirty="0">
                <a:solidFill>
                  <a:srgbClr val="FF0000"/>
                </a:solidFill>
              </a:rPr>
              <a:t>4</a:t>
            </a:r>
          </a:p>
          <a:p>
            <a:r>
              <a:rPr lang="en-US" sz="2400" b="1" dirty="0">
                <a:solidFill>
                  <a:srgbClr val="FF0000"/>
                </a:solidFill>
              </a:rPr>
              <a:t>(4%)</a:t>
            </a:r>
          </a:p>
        </p:txBody>
      </p:sp>
      <p:sp>
        <p:nvSpPr>
          <p:cNvPr id="36" name="TextBox 35"/>
          <p:cNvSpPr txBox="1"/>
          <p:nvPr/>
        </p:nvSpPr>
        <p:spPr>
          <a:xfrm>
            <a:off x="5514937" y="4319636"/>
            <a:ext cx="912429" cy="830997"/>
          </a:xfrm>
          <a:prstGeom prst="rect">
            <a:avLst/>
          </a:prstGeom>
          <a:noFill/>
        </p:spPr>
        <p:txBody>
          <a:bodyPr wrap="none" rtlCol="0">
            <a:spAutoFit/>
          </a:bodyPr>
          <a:lstStyle/>
          <a:p>
            <a:r>
              <a:rPr lang="en-US" sz="2400" b="1" dirty="0">
                <a:solidFill>
                  <a:srgbClr val="FF0000"/>
                </a:solidFill>
              </a:rPr>
              <a:t>11</a:t>
            </a:r>
          </a:p>
          <a:p>
            <a:r>
              <a:rPr lang="en-US" sz="2400" b="1" dirty="0">
                <a:solidFill>
                  <a:srgbClr val="FF0000"/>
                </a:solidFill>
              </a:rPr>
              <a:t>(10%)</a:t>
            </a:r>
          </a:p>
        </p:txBody>
      </p:sp>
      <p:sp>
        <p:nvSpPr>
          <p:cNvPr id="37" name="TextBox 36"/>
          <p:cNvSpPr txBox="1"/>
          <p:nvPr/>
        </p:nvSpPr>
        <p:spPr>
          <a:xfrm>
            <a:off x="4633026" y="5150633"/>
            <a:ext cx="3775393" cy="461665"/>
          </a:xfrm>
          <a:prstGeom prst="rect">
            <a:avLst/>
          </a:prstGeom>
          <a:noFill/>
        </p:spPr>
        <p:txBody>
          <a:bodyPr wrap="none" rtlCol="0">
            <a:spAutoFit/>
          </a:bodyPr>
          <a:lstStyle/>
          <a:p>
            <a:r>
              <a:rPr lang="en-US" sz="2400" dirty="0">
                <a:solidFill>
                  <a:srgbClr val="002060"/>
                </a:solidFill>
              </a:rPr>
              <a:t>r(</a:t>
            </a:r>
            <a:r>
              <a:rPr lang="en-US" sz="2400" i="1" dirty="0">
                <a:solidFill>
                  <a:srgbClr val="002060"/>
                </a:solidFill>
              </a:rPr>
              <a:t>B – C</a:t>
            </a:r>
            <a:r>
              <a:rPr lang="en-US" sz="2400" dirty="0">
                <a:solidFill>
                  <a:srgbClr val="002060"/>
                </a:solidFill>
              </a:rPr>
              <a:t>) = (11+4)/107 = </a:t>
            </a:r>
            <a:r>
              <a:rPr lang="en-US" sz="2400" b="1" dirty="0">
                <a:solidFill>
                  <a:srgbClr val="002060"/>
                </a:solidFill>
              </a:rPr>
              <a:t>0.140</a:t>
            </a:r>
          </a:p>
        </p:txBody>
      </p:sp>
      <p:sp>
        <p:nvSpPr>
          <p:cNvPr id="38" name="TextBox 37"/>
          <p:cNvSpPr txBox="1"/>
          <p:nvPr/>
        </p:nvSpPr>
        <p:spPr>
          <a:xfrm>
            <a:off x="257137" y="5157144"/>
            <a:ext cx="3793026" cy="461665"/>
          </a:xfrm>
          <a:prstGeom prst="rect">
            <a:avLst/>
          </a:prstGeom>
          <a:noFill/>
        </p:spPr>
        <p:txBody>
          <a:bodyPr wrap="none" rtlCol="0">
            <a:spAutoFit/>
          </a:bodyPr>
          <a:lstStyle/>
          <a:p>
            <a:r>
              <a:rPr lang="en-US" sz="2400" dirty="0">
                <a:solidFill>
                  <a:srgbClr val="002060"/>
                </a:solidFill>
              </a:rPr>
              <a:t>r(</a:t>
            </a:r>
            <a:r>
              <a:rPr lang="en-US" sz="2400" i="1" dirty="0">
                <a:solidFill>
                  <a:srgbClr val="002060"/>
                </a:solidFill>
              </a:rPr>
              <a:t>A – B</a:t>
            </a:r>
            <a:r>
              <a:rPr lang="en-US" sz="2400" dirty="0">
                <a:solidFill>
                  <a:srgbClr val="002060"/>
                </a:solidFill>
              </a:rPr>
              <a:t>) = (21+4)/107 = </a:t>
            </a:r>
            <a:r>
              <a:rPr lang="en-US" sz="2400" b="1" dirty="0">
                <a:solidFill>
                  <a:srgbClr val="002060"/>
                </a:solidFill>
              </a:rPr>
              <a:t>0.233</a:t>
            </a:r>
          </a:p>
        </p:txBody>
      </p:sp>
    </p:spTree>
    <p:extLst>
      <p:ext uri="{BB962C8B-B14F-4D97-AF65-F5344CB8AC3E}">
        <p14:creationId xmlns:p14="http://schemas.microsoft.com/office/powerpoint/2010/main" val="27812349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3631833" y="561561"/>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26" name="TextBox 25"/>
          <p:cNvSpPr txBox="1"/>
          <p:nvPr/>
        </p:nvSpPr>
        <p:spPr>
          <a:xfrm>
            <a:off x="1366320" y="563188"/>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22" name="TextBox 21"/>
          <p:cNvSpPr txBox="1"/>
          <p:nvPr/>
        </p:nvSpPr>
        <p:spPr>
          <a:xfrm>
            <a:off x="7914780" y="563188"/>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15" name="TextBox 14"/>
          <p:cNvSpPr txBox="1"/>
          <p:nvPr/>
        </p:nvSpPr>
        <p:spPr>
          <a:xfrm>
            <a:off x="2756449" y="563188"/>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4" name="TextBox 3"/>
          <p:cNvSpPr txBox="1"/>
          <p:nvPr/>
        </p:nvSpPr>
        <p:spPr>
          <a:xfrm>
            <a:off x="451920" y="563188"/>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5" name="TextBox 4"/>
          <p:cNvSpPr txBox="1"/>
          <p:nvPr/>
        </p:nvSpPr>
        <p:spPr>
          <a:xfrm>
            <a:off x="463612" y="1401388"/>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6" name="TextBox 5"/>
          <p:cNvSpPr txBox="1"/>
          <p:nvPr/>
        </p:nvSpPr>
        <p:spPr>
          <a:xfrm>
            <a:off x="468351" y="2201488"/>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7" name="TextBox 6"/>
          <p:cNvSpPr txBox="1"/>
          <p:nvPr/>
        </p:nvSpPr>
        <p:spPr>
          <a:xfrm>
            <a:off x="4808945" y="563188"/>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8" name="TextBox 7"/>
          <p:cNvSpPr txBox="1"/>
          <p:nvPr/>
        </p:nvSpPr>
        <p:spPr>
          <a:xfrm>
            <a:off x="1378012" y="1401388"/>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9" name="TextBox 8"/>
          <p:cNvSpPr txBox="1"/>
          <p:nvPr/>
        </p:nvSpPr>
        <p:spPr>
          <a:xfrm>
            <a:off x="1382751" y="2201488"/>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13" name="TextBox 12"/>
          <p:cNvSpPr txBox="1"/>
          <p:nvPr/>
        </p:nvSpPr>
        <p:spPr>
          <a:xfrm>
            <a:off x="2737920" y="1401388"/>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14" name="TextBox 13"/>
          <p:cNvSpPr txBox="1"/>
          <p:nvPr/>
        </p:nvSpPr>
        <p:spPr>
          <a:xfrm>
            <a:off x="2742659" y="2201488"/>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16" name="TextBox 15"/>
          <p:cNvSpPr txBox="1"/>
          <p:nvPr/>
        </p:nvSpPr>
        <p:spPr>
          <a:xfrm>
            <a:off x="4788790" y="1401388"/>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19" name="TextBox 18"/>
          <p:cNvSpPr txBox="1"/>
          <p:nvPr/>
        </p:nvSpPr>
        <p:spPr>
          <a:xfrm>
            <a:off x="6991163" y="563188"/>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20" name="TextBox 19"/>
          <p:cNvSpPr txBox="1"/>
          <p:nvPr/>
        </p:nvSpPr>
        <p:spPr>
          <a:xfrm>
            <a:off x="7931211" y="1340155"/>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23" name="TextBox 22"/>
          <p:cNvSpPr txBox="1"/>
          <p:nvPr/>
        </p:nvSpPr>
        <p:spPr>
          <a:xfrm>
            <a:off x="7016480" y="1350065"/>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24" name="TextBox 23"/>
          <p:cNvSpPr txBox="1"/>
          <p:nvPr/>
        </p:nvSpPr>
        <p:spPr>
          <a:xfrm>
            <a:off x="7931211" y="2201488"/>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21" name="TextBox 20"/>
          <p:cNvSpPr txBox="1"/>
          <p:nvPr/>
        </p:nvSpPr>
        <p:spPr>
          <a:xfrm>
            <a:off x="7007594" y="2201488"/>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25" name="TextBox 24"/>
          <p:cNvSpPr txBox="1"/>
          <p:nvPr/>
        </p:nvSpPr>
        <p:spPr>
          <a:xfrm>
            <a:off x="4814225" y="2201488"/>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28" name="TextBox 27"/>
          <p:cNvSpPr txBox="1"/>
          <p:nvPr/>
        </p:nvSpPr>
        <p:spPr>
          <a:xfrm>
            <a:off x="3649100" y="1394879"/>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29" name="TextBox 28"/>
          <p:cNvSpPr txBox="1"/>
          <p:nvPr/>
        </p:nvSpPr>
        <p:spPr>
          <a:xfrm>
            <a:off x="3653839" y="2194979"/>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30" name="TextBox 29"/>
          <p:cNvSpPr txBox="1"/>
          <p:nvPr/>
        </p:nvSpPr>
        <p:spPr>
          <a:xfrm>
            <a:off x="5774228" y="556679"/>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31" name="TextBox 30"/>
          <p:cNvSpPr txBox="1"/>
          <p:nvPr/>
        </p:nvSpPr>
        <p:spPr>
          <a:xfrm>
            <a:off x="5785920" y="1394879"/>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32" name="TextBox 31"/>
          <p:cNvSpPr txBox="1"/>
          <p:nvPr/>
        </p:nvSpPr>
        <p:spPr>
          <a:xfrm>
            <a:off x="5815737" y="2201488"/>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33" name="TextBox 32"/>
          <p:cNvSpPr txBox="1"/>
          <p:nvPr/>
        </p:nvSpPr>
        <p:spPr>
          <a:xfrm>
            <a:off x="1063491" y="3132514"/>
            <a:ext cx="912429" cy="830997"/>
          </a:xfrm>
          <a:prstGeom prst="rect">
            <a:avLst/>
          </a:prstGeom>
          <a:noFill/>
        </p:spPr>
        <p:txBody>
          <a:bodyPr wrap="none" rtlCol="0">
            <a:spAutoFit/>
          </a:bodyPr>
          <a:lstStyle/>
          <a:p>
            <a:r>
              <a:rPr lang="en-US" sz="2400" b="1" dirty="0"/>
              <a:t>71</a:t>
            </a:r>
          </a:p>
          <a:p>
            <a:r>
              <a:rPr lang="en-US" sz="2400" b="1" dirty="0"/>
              <a:t>(66%)</a:t>
            </a:r>
          </a:p>
        </p:txBody>
      </p:sp>
      <p:sp>
        <p:nvSpPr>
          <p:cNvPr id="34" name="TextBox 33"/>
          <p:cNvSpPr txBox="1"/>
          <p:nvPr/>
        </p:nvSpPr>
        <p:spPr>
          <a:xfrm>
            <a:off x="3349491" y="3132512"/>
            <a:ext cx="912429" cy="830997"/>
          </a:xfrm>
          <a:prstGeom prst="rect">
            <a:avLst/>
          </a:prstGeom>
          <a:noFill/>
        </p:spPr>
        <p:txBody>
          <a:bodyPr wrap="none" rtlCol="0">
            <a:spAutoFit/>
          </a:bodyPr>
          <a:lstStyle/>
          <a:p>
            <a:r>
              <a:rPr lang="en-US" sz="2400" b="1" dirty="0"/>
              <a:t>21</a:t>
            </a:r>
          </a:p>
          <a:p>
            <a:r>
              <a:rPr lang="en-US" sz="2400" b="1" dirty="0"/>
              <a:t>(20%)</a:t>
            </a:r>
          </a:p>
        </p:txBody>
      </p:sp>
      <p:sp>
        <p:nvSpPr>
          <p:cNvPr id="35" name="TextBox 34"/>
          <p:cNvSpPr txBox="1"/>
          <p:nvPr/>
        </p:nvSpPr>
        <p:spPr>
          <a:xfrm>
            <a:off x="7695982" y="3132511"/>
            <a:ext cx="756938" cy="830997"/>
          </a:xfrm>
          <a:prstGeom prst="rect">
            <a:avLst/>
          </a:prstGeom>
          <a:noFill/>
        </p:spPr>
        <p:txBody>
          <a:bodyPr wrap="none" rtlCol="0">
            <a:spAutoFit/>
          </a:bodyPr>
          <a:lstStyle/>
          <a:p>
            <a:r>
              <a:rPr lang="en-US" sz="2400" b="1" dirty="0">
                <a:solidFill>
                  <a:srgbClr val="FF0000"/>
                </a:solidFill>
              </a:rPr>
              <a:t>4</a:t>
            </a:r>
          </a:p>
          <a:p>
            <a:r>
              <a:rPr lang="en-US" sz="2400" b="1" dirty="0">
                <a:solidFill>
                  <a:srgbClr val="FF0000"/>
                </a:solidFill>
              </a:rPr>
              <a:t>(4%)</a:t>
            </a:r>
          </a:p>
        </p:txBody>
      </p:sp>
      <p:sp>
        <p:nvSpPr>
          <p:cNvPr id="36" name="TextBox 35"/>
          <p:cNvSpPr txBox="1"/>
          <p:nvPr/>
        </p:nvSpPr>
        <p:spPr>
          <a:xfrm>
            <a:off x="5481120" y="3126003"/>
            <a:ext cx="912429" cy="830997"/>
          </a:xfrm>
          <a:prstGeom prst="rect">
            <a:avLst/>
          </a:prstGeom>
          <a:noFill/>
        </p:spPr>
        <p:txBody>
          <a:bodyPr wrap="none" rtlCol="0">
            <a:spAutoFit/>
          </a:bodyPr>
          <a:lstStyle/>
          <a:p>
            <a:r>
              <a:rPr lang="en-US" sz="2400" b="1" dirty="0"/>
              <a:t>11</a:t>
            </a:r>
          </a:p>
          <a:p>
            <a:r>
              <a:rPr lang="en-US" sz="2400" b="1" dirty="0"/>
              <a:t>(10%)</a:t>
            </a:r>
          </a:p>
        </p:txBody>
      </p:sp>
      <p:sp>
        <p:nvSpPr>
          <p:cNvPr id="37" name="TextBox 36"/>
          <p:cNvSpPr txBox="1"/>
          <p:nvPr/>
        </p:nvSpPr>
        <p:spPr>
          <a:xfrm>
            <a:off x="4599209" y="4484824"/>
            <a:ext cx="4304383" cy="461665"/>
          </a:xfrm>
          <a:prstGeom prst="rect">
            <a:avLst/>
          </a:prstGeom>
          <a:noFill/>
        </p:spPr>
        <p:txBody>
          <a:bodyPr wrap="none" rtlCol="0">
            <a:spAutoFit/>
          </a:bodyPr>
          <a:lstStyle/>
          <a:p>
            <a:r>
              <a:rPr lang="en-US" sz="2400" dirty="0">
                <a:solidFill>
                  <a:srgbClr val="002060"/>
                </a:solidFill>
              </a:rPr>
              <a:t>D(</a:t>
            </a:r>
            <a:r>
              <a:rPr lang="en-US" sz="2400" i="1" dirty="0">
                <a:solidFill>
                  <a:srgbClr val="002060"/>
                </a:solidFill>
              </a:rPr>
              <a:t>B – C</a:t>
            </a:r>
            <a:r>
              <a:rPr lang="en-US" sz="2400" dirty="0">
                <a:solidFill>
                  <a:srgbClr val="002060"/>
                </a:solidFill>
              </a:rPr>
              <a:t>) = (0.140)(100) = </a:t>
            </a:r>
            <a:r>
              <a:rPr lang="en-US" sz="2400" b="1" dirty="0">
                <a:solidFill>
                  <a:srgbClr val="002060"/>
                </a:solidFill>
              </a:rPr>
              <a:t>14.0 </a:t>
            </a:r>
            <a:r>
              <a:rPr lang="en-US" sz="2400" b="1" dirty="0" err="1">
                <a:solidFill>
                  <a:srgbClr val="002060"/>
                </a:solidFill>
              </a:rPr>
              <a:t>cM</a:t>
            </a:r>
            <a:endParaRPr lang="en-US" sz="2400" b="1" dirty="0">
              <a:solidFill>
                <a:srgbClr val="002060"/>
              </a:solidFill>
            </a:endParaRPr>
          </a:p>
        </p:txBody>
      </p:sp>
      <p:sp>
        <p:nvSpPr>
          <p:cNvPr id="38" name="TextBox 37"/>
          <p:cNvSpPr txBox="1"/>
          <p:nvPr/>
        </p:nvSpPr>
        <p:spPr>
          <a:xfrm>
            <a:off x="223320" y="4491335"/>
            <a:ext cx="4322017" cy="461665"/>
          </a:xfrm>
          <a:prstGeom prst="rect">
            <a:avLst/>
          </a:prstGeom>
          <a:noFill/>
        </p:spPr>
        <p:txBody>
          <a:bodyPr wrap="none" rtlCol="0">
            <a:spAutoFit/>
          </a:bodyPr>
          <a:lstStyle/>
          <a:p>
            <a:r>
              <a:rPr lang="en-US" sz="2400" dirty="0">
                <a:solidFill>
                  <a:srgbClr val="002060"/>
                </a:solidFill>
              </a:rPr>
              <a:t>D(</a:t>
            </a:r>
            <a:r>
              <a:rPr lang="en-US" sz="2400" i="1" dirty="0">
                <a:solidFill>
                  <a:srgbClr val="002060"/>
                </a:solidFill>
              </a:rPr>
              <a:t>A – B</a:t>
            </a:r>
            <a:r>
              <a:rPr lang="en-US" sz="2400" dirty="0">
                <a:solidFill>
                  <a:srgbClr val="002060"/>
                </a:solidFill>
              </a:rPr>
              <a:t>) = (0.233)(100) = </a:t>
            </a:r>
            <a:r>
              <a:rPr lang="en-US" sz="2400" b="1" dirty="0">
                <a:solidFill>
                  <a:srgbClr val="002060"/>
                </a:solidFill>
              </a:rPr>
              <a:t>23.3 </a:t>
            </a:r>
            <a:r>
              <a:rPr lang="en-US" sz="2400" b="1" dirty="0" err="1">
                <a:solidFill>
                  <a:srgbClr val="002060"/>
                </a:solidFill>
              </a:rPr>
              <a:t>cM</a:t>
            </a:r>
            <a:endParaRPr lang="en-US" sz="2400" b="1" dirty="0">
              <a:solidFill>
                <a:srgbClr val="002060"/>
              </a:solidFill>
            </a:endParaRPr>
          </a:p>
        </p:txBody>
      </p:sp>
      <p:sp>
        <p:nvSpPr>
          <p:cNvPr id="39" name="TextBox 38"/>
          <p:cNvSpPr txBox="1"/>
          <p:nvPr/>
        </p:nvSpPr>
        <p:spPr>
          <a:xfrm>
            <a:off x="4638404" y="3962400"/>
            <a:ext cx="3775393" cy="461665"/>
          </a:xfrm>
          <a:prstGeom prst="rect">
            <a:avLst/>
          </a:prstGeom>
          <a:noFill/>
        </p:spPr>
        <p:txBody>
          <a:bodyPr wrap="none" rtlCol="0">
            <a:spAutoFit/>
          </a:bodyPr>
          <a:lstStyle/>
          <a:p>
            <a:r>
              <a:rPr lang="en-US" sz="2400" dirty="0">
                <a:solidFill>
                  <a:srgbClr val="002060"/>
                </a:solidFill>
              </a:rPr>
              <a:t>r(</a:t>
            </a:r>
            <a:r>
              <a:rPr lang="en-US" sz="2400" i="1" dirty="0">
                <a:solidFill>
                  <a:srgbClr val="002060"/>
                </a:solidFill>
              </a:rPr>
              <a:t>B – C</a:t>
            </a:r>
            <a:r>
              <a:rPr lang="en-US" sz="2400" dirty="0">
                <a:solidFill>
                  <a:srgbClr val="002060"/>
                </a:solidFill>
              </a:rPr>
              <a:t>) = (11+4)/107 = </a:t>
            </a:r>
            <a:r>
              <a:rPr lang="en-US" sz="2400" dirty="0">
                <a:solidFill>
                  <a:srgbClr val="FF0000"/>
                </a:solidFill>
              </a:rPr>
              <a:t>0.140</a:t>
            </a:r>
          </a:p>
        </p:txBody>
      </p:sp>
      <p:sp>
        <p:nvSpPr>
          <p:cNvPr id="40" name="TextBox 39"/>
          <p:cNvSpPr txBox="1"/>
          <p:nvPr/>
        </p:nvSpPr>
        <p:spPr>
          <a:xfrm>
            <a:off x="262515" y="3968911"/>
            <a:ext cx="3793026" cy="461665"/>
          </a:xfrm>
          <a:prstGeom prst="rect">
            <a:avLst/>
          </a:prstGeom>
          <a:noFill/>
        </p:spPr>
        <p:txBody>
          <a:bodyPr wrap="none" rtlCol="0">
            <a:spAutoFit/>
          </a:bodyPr>
          <a:lstStyle/>
          <a:p>
            <a:r>
              <a:rPr lang="en-US" sz="2400" dirty="0">
                <a:solidFill>
                  <a:srgbClr val="002060"/>
                </a:solidFill>
              </a:rPr>
              <a:t>r(</a:t>
            </a:r>
            <a:r>
              <a:rPr lang="en-US" sz="2400" i="1" dirty="0">
                <a:solidFill>
                  <a:srgbClr val="002060"/>
                </a:solidFill>
              </a:rPr>
              <a:t>A – B</a:t>
            </a:r>
            <a:r>
              <a:rPr lang="en-US" sz="2400" dirty="0">
                <a:solidFill>
                  <a:srgbClr val="002060"/>
                </a:solidFill>
              </a:rPr>
              <a:t>) = (21+4)/107 = </a:t>
            </a:r>
            <a:r>
              <a:rPr lang="en-US" sz="2400" dirty="0">
                <a:solidFill>
                  <a:srgbClr val="FF0000"/>
                </a:solidFill>
              </a:rPr>
              <a:t>0.233</a:t>
            </a:r>
          </a:p>
        </p:txBody>
      </p:sp>
    </p:spTree>
    <p:extLst>
      <p:ext uri="{BB962C8B-B14F-4D97-AF65-F5344CB8AC3E}">
        <p14:creationId xmlns:p14="http://schemas.microsoft.com/office/powerpoint/2010/main" val="1465944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3631833" y="561561"/>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26" name="TextBox 25"/>
          <p:cNvSpPr txBox="1"/>
          <p:nvPr/>
        </p:nvSpPr>
        <p:spPr>
          <a:xfrm>
            <a:off x="1366320" y="563188"/>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22" name="TextBox 21"/>
          <p:cNvSpPr txBox="1"/>
          <p:nvPr/>
        </p:nvSpPr>
        <p:spPr>
          <a:xfrm>
            <a:off x="7914780" y="563188"/>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15" name="TextBox 14"/>
          <p:cNvSpPr txBox="1"/>
          <p:nvPr/>
        </p:nvSpPr>
        <p:spPr>
          <a:xfrm>
            <a:off x="2756449" y="563188"/>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4" name="TextBox 3"/>
          <p:cNvSpPr txBox="1"/>
          <p:nvPr/>
        </p:nvSpPr>
        <p:spPr>
          <a:xfrm>
            <a:off x="451920" y="563188"/>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5" name="TextBox 4"/>
          <p:cNvSpPr txBox="1"/>
          <p:nvPr/>
        </p:nvSpPr>
        <p:spPr>
          <a:xfrm>
            <a:off x="463612" y="1401388"/>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6" name="TextBox 5"/>
          <p:cNvSpPr txBox="1"/>
          <p:nvPr/>
        </p:nvSpPr>
        <p:spPr>
          <a:xfrm>
            <a:off x="468351" y="2201488"/>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7" name="TextBox 6"/>
          <p:cNvSpPr txBox="1"/>
          <p:nvPr/>
        </p:nvSpPr>
        <p:spPr>
          <a:xfrm>
            <a:off x="4808945" y="563188"/>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8" name="TextBox 7"/>
          <p:cNvSpPr txBox="1"/>
          <p:nvPr/>
        </p:nvSpPr>
        <p:spPr>
          <a:xfrm>
            <a:off x="1378012" y="1401388"/>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9" name="TextBox 8"/>
          <p:cNvSpPr txBox="1"/>
          <p:nvPr/>
        </p:nvSpPr>
        <p:spPr>
          <a:xfrm>
            <a:off x="1382751" y="2201488"/>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13" name="TextBox 12"/>
          <p:cNvSpPr txBox="1"/>
          <p:nvPr/>
        </p:nvSpPr>
        <p:spPr>
          <a:xfrm>
            <a:off x="2737920" y="1401388"/>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14" name="TextBox 13"/>
          <p:cNvSpPr txBox="1"/>
          <p:nvPr/>
        </p:nvSpPr>
        <p:spPr>
          <a:xfrm>
            <a:off x="2742659" y="2201488"/>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16" name="TextBox 15"/>
          <p:cNvSpPr txBox="1"/>
          <p:nvPr/>
        </p:nvSpPr>
        <p:spPr>
          <a:xfrm>
            <a:off x="4788790" y="1401388"/>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19" name="TextBox 18"/>
          <p:cNvSpPr txBox="1"/>
          <p:nvPr/>
        </p:nvSpPr>
        <p:spPr>
          <a:xfrm>
            <a:off x="6991163" y="563188"/>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20" name="TextBox 19"/>
          <p:cNvSpPr txBox="1"/>
          <p:nvPr/>
        </p:nvSpPr>
        <p:spPr>
          <a:xfrm>
            <a:off x="7931211" y="1340155"/>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23" name="TextBox 22"/>
          <p:cNvSpPr txBox="1"/>
          <p:nvPr/>
        </p:nvSpPr>
        <p:spPr>
          <a:xfrm>
            <a:off x="7016480" y="1350065"/>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24" name="TextBox 23"/>
          <p:cNvSpPr txBox="1"/>
          <p:nvPr/>
        </p:nvSpPr>
        <p:spPr>
          <a:xfrm>
            <a:off x="7931211" y="2201488"/>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21" name="TextBox 20"/>
          <p:cNvSpPr txBox="1"/>
          <p:nvPr/>
        </p:nvSpPr>
        <p:spPr>
          <a:xfrm>
            <a:off x="7007594" y="2201488"/>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25" name="TextBox 24"/>
          <p:cNvSpPr txBox="1"/>
          <p:nvPr/>
        </p:nvSpPr>
        <p:spPr>
          <a:xfrm>
            <a:off x="4814225" y="2201488"/>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28" name="TextBox 27"/>
          <p:cNvSpPr txBox="1"/>
          <p:nvPr/>
        </p:nvSpPr>
        <p:spPr>
          <a:xfrm>
            <a:off x="3649100" y="1394879"/>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29" name="TextBox 28"/>
          <p:cNvSpPr txBox="1"/>
          <p:nvPr/>
        </p:nvSpPr>
        <p:spPr>
          <a:xfrm>
            <a:off x="3653839" y="2194979"/>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30" name="TextBox 29"/>
          <p:cNvSpPr txBox="1"/>
          <p:nvPr/>
        </p:nvSpPr>
        <p:spPr>
          <a:xfrm>
            <a:off x="5774228" y="556679"/>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31" name="TextBox 30"/>
          <p:cNvSpPr txBox="1"/>
          <p:nvPr/>
        </p:nvSpPr>
        <p:spPr>
          <a:xfrm>
            <a:off x="5785920" y="1394879"/>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32" name="TextBox 31"/>
          <p:cNvSpPr txBox="1"/>
          <p:nvPr/>
        </p:nvSpPr>
        <p:spPr>
          <a:xfrm>
            <a:off x="5815737" y="2201488"/>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33" name="TextBox 32"/>
          <p:cNvSpPr txBox="1"/>
          <p:nvPr/>
        </p:nvSpPr>
        <p:spPr>
          <a:xfrm>
            <a:off x="1063491" y="3132514"/>
            <a:ext cx="912429" cy="830997"/>
          </a:xfrm>
          <a:prstGeom prst="rect">
            <a:avLst/>
          </a:prstGeom>
          <a:noFill/>
        </p:spPr>
        <p:txBody>
          <a:bodyPr wrap="none" rtlCol="0">
            <a:spAutoFit/>
          </a:bodyPr>
          <a:lstStyle/>
          <a:p>
            <a:r>
              <a:rPr lang="en-US" sz="2400" b="1" dirty="0"/>
              <a:t>71</a:t>
            </a:r>
          </a:p>
          <a:p>
            <a:r>
              <a:rPr lang="en-US" sz="2400" b="1" dirty="0"/>
              <a:t>(66%)</a:t>
            </a:r>
          </a:p>
        </p:txBody>
      </p:sp>
      <p:sp>
        <p:nvSpPr>
          <p:cNvPr id="34" name="TextBox 33"/>
          <p:cNvSpPr txBox="1"/>
          <p:nvPr/>
        </p:nvSpPr>
        <p:spPr>
          <a:xfrm>
            <a:off x="3349491" y="3132512"/>
            <a:ext cx="912429" cy="830997"/>
          </a:xfrm>
          <a:prstGeom prst="rect">
            <a:avLst/>
          </a:prstGeom>
          <a:noFill/>
        </p:spPr>
        <p:txBody>
          <a:bodyPr wrap="none" rtlCol="0">
            <a:spAutoFit/>
          </a:bodyPr>
          <a:lstStyle/>
          <a:p>
            <a:r>
              <a:rPr lang="en-US" sz="2400" b="1" dirty="0"/>
              <a:t>21</a:t>
            </a:r>
          </a:p>
          <a:p>
            <a:r>
              <a:rPr lang="en-US" sz="2400" b="1" dirty="0"/>
              <a:t>(20%)</a:t>
            </a:r>
          </a:p>
        </p:txBody>
      </p:sp>
      <p:sp>
        <p:nvSpPr>
          <p:cNvPr id="35" name="TextBox 34"/>
          <p:cNvSpPr txBox="1"/>
          <p:nvPr/>
        </p:nvSpPr>
        <p:spPr>
          <a:xfrm>
            <a:off x="7695982" y="3132511"/>
            <a:ext cx="756938" cy="830997"/>
          </a:xfrm>
          <a:prstGeom prst="rect">
            <a:avLst/>
          </a:prstGeom>
          <a:noFill/>
        </p:spPr>
        <p:txBody>
          <a:bodyPr wrap="none" rtlCol="0">
            <a:spAutoFit/>
          </a:bodyPr>
          <a:lstStyle/>
          <a:p>
            <a:r>
              <a:rPr lang="en-US" sz="2400" b="1" dirty="0">
                <a:solidFill>
                  <a:srgbClr val="FF0000"/>
                </a:solidFill>
              </a:rPr>
              <a:t>4</a:t>
            </a:r>
          </a:p>
          <a:p>
            <a:r>
              <a:rPr lang="en-US" sz="2400" b="1" dirty="0">
                <a:solidFill>
                  <a:srgbClr val="FF0000"/>
                </a:solidFill>
              </a:rPr>
              <a:t>(4%)</a:t>
            </a:r>
          </a:p>
        </p:txBody>
      </p:sp>
      <p:sp>
        <p:nvSpPr>
          <p:cNvPr id="36" name="TextBox 35"/>
          <p:cNvSpPr txBox="1"/>
          <p:nvPr/>
        </p:nvSpPr>
        <p:spPr>
          <a:xfrm>
            <a:off x="5481120" y="3126003"/>
            <a:ext cx="912429" cy="830997"/>
          </a:xfrm>
          <a:prstGeom prst="rect">
            <a:avLst/>
          </a:prstGeom>
          <a:noFill/>
        </p:spPr>
        <p:txBody>
          <a:bodyPr wrap="none" rtlCol="0">
            <a:spAutoFit/>
          </a:bodyPr>
          <a:lstStyle/>
          <a:p>
            <a:r>
              <a:rPr lang="en-US" sz="2400" b="1" dirty="0"/>
              <a:t>11</a:t>
            </a:r>
          </a:p>
          <a:p>
            <a:r>
              <a:rPr lang="en-US" sz="2400" b="1" dirty="0"/>
              <a:t>(10%)</a:t>
            </a:r>
          </a:p>
        </p:txBody>
      </p:sp>
      <p:sp>
        <p:nvSpPr>
          <p:cNvPr id="18" name="TextBox 17"/>
          <p:cNvSpPr txBox="1"/>
          <p:nvPr/>
        </p:nvSpPr>
        <p:spPr>
          <a:xfrm>
            <a:off x="685800" y="4572000"/>
            <a:ext cx="4150367" cy="461665"/>
          </a:xfrm>
          <a:prstGeom prst="rect">
            <a:avLst/>
          </a:prstGeom>
          <a:noFill/>
        </p:spPr>
        <p:txBody>
          <a:bodyPr wrap="none" rtlCol="0">
            <a:spAutoFit/>
          </a:bodyPr>
          <a:lstStyle/>
          <a:p>
            <a:r>
              <a:rPr lang="en-US" sz="2400" dirty="0"/>
              <a:t>Observed double crossovers = </a:t>
            </a:r>
            <a:r>
              <a:rPr lang="en-US" sz="2400" b="1" dirty="0"/>
              <a:t>4</a:t>
            </a:r>
          </a:p>
        </p:txBody>
      </p:sp>
      <p:sp>
        <p:nvSpPr>
          <p:cNvPr id="41" name="TextBox 40"/>
          <p:cNvSpPr txBox="1"/>
          <p:nvPr/>
        </p:nvSpPr>
        <p:spPr>
          <a:xfrm>
            <a:off x="4638404" y="3962400"/>
            <a:ext cx="3775393" cy="461665"/>
          </a:xfrm>
          <a:prstGeom prst="rect">
            <a:avLst/>
          </a:prstGeom>
          <a:noFill/>
        </p:spPr>
        <p:txBody>
          <a:bodyPr wrap="none" rtlCol="0">
            <a:spAutoFit/>
          </a:bodyPr>
          <a:lstStyle/>
          <a:p>
            <a:r>
              <a:rPr lang="en-US" sz="2400" dirty="0">
                <a:solidFill>
                  <a:srgbClr val="002060"/>
                </a:solidFill>
              </a:rPr>
              <a:t>r(</a:t>
            </a:r>
            <a:r>
              <a:rPr lang="en-US" sz="2400" i="1" dirty="0">
                <a:solidFill>
                  <a:srgbClr val="002060"/>
                </a:solidFill>
              </a:rPr>
              <a:t>B – C</a:t>
            </a:r>
            <a:r>
              <a:rPr lang="en-US" sz="2400" dirty="0">
                <a:solidFill>
                  <a:srgbClr val="002060"/>
                </a:solidFill>
              </a:rPr>
              <a:t>) = (11+4)/107 = </a:t>
            </a:r>
            <a:r>
              <a:rPr lang="en-US" sz="2400" dirty="0"/>
              <a:t>0.140</a:t>
            </a:r>
          </a:p>
        </p:txBody>
      </p:sp>
      <p:sp>
        <p:nvSpPr>
          <p:cNvPr id="42" name="TextBox 41"/>
          <p:cNvSpPr txBox="1"/>
          <p:nvPr/>
        </p:nvSpPr>
        <p:spPr>
          <a:xfrm>
            <a:off x="262515" y="3968911"/>
            <a:ext cx="3793026" cy="461665"/>
          </a:xfrm>
          <a:prstGeom prst="rect">
            <a:avLst/>
          </a:prstGeom>
          <a:noFill/>
        </p:spPr>
        <p:txBody>
          <a:bodyPr wrap="none" rtlCol="0">
            <a:spAutoFit/>
          </a:bodyPr>
          <a:lstStyle/>
          <a:p>
            <a:r>
              <a:rPr lang="en-US" sz="2400" dirty="0">
                <a:solidFill>
                  <a:srgbClr val="002060"/>
                </a:solidFill>
              </a:rPr>
              <a:t>r(</a:t>
            </a:r>
            <a:r>
              <a:rPr lang="en-US" sz="2400" i="1" dirty="0">
                <a:solidFill>
                  <a:srgbClr val="002060"/>
                </a:solidFill>
              </a:rPr>
              <a:t>A – B</a:t>
            </a:r>
            <a:r>
              <a:rPr lang="en-US" sz="2400" dirty="0">
                <a:solidFill>
                  <a:srgbClr val="002060"/>
                </a:solidFill>
              </a:rPr>
              <a:t>) = (21+4)/107 = </a:t>
            </a:r>
            <a:r>
              <a:rPr lang="en-US" sz="2400" dirty="0"/>
              <a:t>0.233</a:t>
            </a:r>
          </a:p>
        </p:txBody>
      </p:sp>
    </p:spTree>
    <p:extLst>
      <p:ext uri="{BB962C8B-B14F-4D97-AF65-F5344CB8AC3E}">
        <p14:creationId xmlns:p14="http://schemas.microsoft.com/office/powerpoint/2010/main" val="3942135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3631833" y="561561"/>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26" name="TextBox 25"/>
          <p:cNvSpPr txBox="1"/>
          <p:nvPr/>
        </p:nvSpPr>
        <p:spPr>
          <a:xfrm>
            <a:off x="1366320" y="563188"/>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22" name="TextBox 21"/>
          <p:cNvSpPr txBox="1"/>
          <p:nvPr/>
        </p:nvSpPr>
        <p:spPr>
          <a:xfrm>
            <a:off x="7914780" y="563188"/>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15" name="TextBox 14"/>
          <p:cNvSpPr txBox="1"/>
          <p:nvPr/>
        </p:nvSpPr>
        <p:spPr>
          <a:xfrm>
            <a:off x="2756449" y="563188"/>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4" name="TextBox 3"/>
          <p:cNvSpPr txBox="1"/>
          <p:nvPr/>
        </p:nvSpPr>
        <p:spPr>
          <a:xfrm>
            <a:off x="451920" y="563188"/>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5" name="TextBox 4"/>
          <p:cNvSpPr txBox="1"/>
          <p:nvPr/>
        </p:nvSpPr>
        <p:spPr>
          <a:xfrm>
            <a:off x="463612" y="1401388"/>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6" name="TextBox 5"/>
          <p:cNvSpPr txBox="1"/>
          <p:nvPr/>
        </p:nvSpPr>
        <p:spPr>
          <a:xfrm>
            <a:off x="468351" y="2201488"/>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7" name="TextBox 6"/>
          <p:cNvSpPr txBox="1"/>
          <p:nvPr/>
        </p:nvSpPr>
        <p:spPr>
          <a:xfrm>
            <a:off x="4808945" y="563188"/>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8" name="TextBox 7"/>
          <p:cNvSpPr txBox="1"/>
          <p:nvPr/>
        </p:nvSpPr>
        <p:spPr>
          <a:xfrm>
            <a:off x="1378012" y="1401388"/>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9" name="TextBox 8"/>
          <p:cNvSpPr txBox="1"/>
          <p:nvPr/>
        </p:nvSpPr>
        <p:spPr>
          <a:xfrm>
            <a:off x="1382751" y="2201488"/>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13" name="TextBox 12"/>
          <p:cNvSpPr txBox="1"/>
          <p:nvPr/>
        </p:nvSpPr>
        <p:spPr>
          <a:xfrm>
            <a:off x="2737920" y="1401388"/>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14" name="TextBox 13"/>
          <p:cNvSpPr txBox="1"/>
          <p:nvPr/>
        </p:nvSpPr>
        <p:spPr>
          <a:xfrm>
            <a:off x="2742659" y="2201488"/>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16" name="TextBox 15"/>
          <p:cNvSpPr txBox="1"/>
          <p:nvPr/>
        </p:nvSpPr>
        <p:spPr>
          <a:xfrm>
            <a:off x="4788790" y="1401388"/>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19" name="TextBox 18"/>
          <p:cNvSpPr txBox="1"/>
          <p:nvPr/>
        </p:nvSpPr>
        <p:spPr>
          <a:xfrm>
            <a:off x="6991163" y="563188"/>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20" name="TextBox 19"/>
          <p:cNvSpPr txBox="1"/>
          <p:nvPr/>
        </p:nvSpPr>
        <p:spPr>
          <a:xfrm>
            <a:off x="7931211" y="1340155"/>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23" name="TextBox 22"/>
          <p:cNvSpPr txBox="1"/>
          <p:nvPr/>
        </p:nvSpPr>
        <p:spPr>
          <a:xfrm>
            <a:off x="7016480" y="1350065"/>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24" name="TextBox 23"/>
          <p:cNvSpPr txBox="1"/>
          <p:nvPr/>
        </p:nvSpPr>
        <p:spPr>
          <a:xfrm>
            <a:off x="7931211" y="2201488"/>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21" name="TextBox 20"/>
          <p:cNvSpPr txBox="1"/>
          <p:nvPr/>
        </p:nvSpPr>
        <p:spPr>
          <a:xfrm>
            <a:off x="7007594" y="2201488"/>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25" name="TextBox 24"/>
          <p:cNvSpPr txBox="1"/>
          <p:nvPr/>
        </p:nvSpPr>
        <p:spPr>
          <a:xfrm>
            <a:off x="4814225" y="2201488"/>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28" name="TextBox 27"/>
          <p:cNvSpPr txBox="1"/>
          <p:nvPr/>
        </p:nvSpPr>
        <p:spPr>
          <a:xfrm>
            <a:off x="3649100" y="1394879"/>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29" name="TextBox 28"/>
          <p:cNvSpPr txBox="1"/>
          <p:nvPr/>
        </p:nvSpPr>
        <p:spPr>
          <a:xfrm>
            <a:off x="3653839" y="2194979"/>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30" name="TextBox 29"/>
          <p:cNvSpPr txBox="1"/>
          <p:nvPr/>
        </p:nvSpPr>
        <p:spPr>
          <a:xfrm>
            <a:off x="5774228" y="556679"/>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31" name="TextBox 30"/>
          <p:cNvSpPr txBox="1"/>
          <p:nvPr/>
        </p:nvSpPr>
        <p:spPr>
          <a:xfrm>
            <a:off x="5785920" y="1394879"/>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32" name="TextBox 31"/>
          <p:cNvSpPr txBox="1"/>
          <p:nvPr/>
        </p:nvSpPr>
        <p:spPr>
          <a:xfrm>
            <a:off x="5815737" y="2201488"/>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33" name="TextBox 32"/>
          <p:cNvSpPr txBox="1"/>
          <p:nvPr/>
        </p:nvSpPr>
        <p:spPr>
          <a:xfrm>
            <a:off x="1063491" y="3132514"/>
            <a:ext cx="912429" cy="830997"/>
          </a:xfrm>
          <a:prstGeom prst="rect">
            <a:avLst/>
          </a:prstGeom>
          <a:noFill/>
        </p:spPr>
        <p:txBody>
          <a:bodyPr wrap="none" rtlCol="0">
            <a:spAutoFit/>
          </a:bodyPr>
          <a:lstStyle/>
          <a:p>
            <a:r>
              <a:rPr lang="en-US" sz="2400" b="1" dirty="0"/>
              <a:t>71</a:t>
            </a:r>
          </a:p>
          <a:p>
            <a:r>
              <a:rPr lang="en-US" sz="2400" b="1" dirty="0"/>
              <a:t>(66%)</a:t>
            </a:r>
          </a:p>
        </p:txBody>
      </p:sp>
      <p:sp>
        <p:nvSpPr>
          <p:cNvPr id="34" name="TextBox 33"/>
          <p:cNvSpPr txBox="1"/>
          <p:nvPr/>
        </p:nvSpPr>
        <p:spPr>
          <a:xfrm>
            <a:off x="3349491" y="3132512"/>
            <a:ext cx="912429" cy="830997"/>
          </a:xfrm>
          <a:prstGeom prst="rect">
            <a:avLst/>
          </a:prstGeom>
          <a:noFill/>
        </p:spPr>
        <p:txBody>
          <a:bodyPr wrap="none" rtlCol="0">
            <a:spAutoFit/>
          </a:bodyPr>
          <a:lstStyle/>
          <a:p>
            <a:r>
              <a:rPr lang="en-US" sz="2400" b="1" dirty="0"/>
              <a:t>21</a:t>
            </a:r>
          </a:p>
          <a:p>
            <a:r>
              <a:rPr lang="en-US" sz="2400" b="1" dirty="0"/>
              <a:t>(20%)</a:t>
            </a:r>
          </a:p>
        </p:txBody>
      </p:sp>
      <p:sp>
        <p:nvSpPr>
          <p:cNvPr id="35" name="TextBox 34"/>
          <p:cNvSpPr txBox="1"/>
          <p:nvPr/>
        </p:nvSpPr>
        <p:spPr>
          <a:xfrm>
            <a:off x="7695982" y="3132511"/>
            <a:ext cx="756938" cy="830997"/>
          </a:xfrm>
          <a:prstGeom prst="rect">
            <a:avLst/>
          </a:prstGeom>
          <a:noFill/>
        </p:spPr>
        <p:txBody>
          <a:bodyPr wrap="none" rtlCol="0">
            <a:spAutoFit/>
          </a:bodyPr>
          <a:lstStyle/>
          <a:p>
            <a:r>
              <a:rPr lang="en-US" sz="2400" b="1" dirty="0"/>
              <a:t>4</a:t>
            </a:r>
          </a:p>
          <a:p>
            <a:r>
              <a:rPr lang="en-US" sz="2400" b="1" dirty="0"/>
              <a:t>(4%)</a:t>
            </a:r>
          </a:p>
        </p:txBody>
      </p:sp>
      <p:sp>
        <p:nvSpPr>
          <p:cNvPr id="36" name="TextBox 35"/>
          <p:cNvSpPr txBox="1"/>
          <p:nvPr/>
        </p:nvSpPr>
        <p:spPr>
          <a:xfrm>
            <a:off x="5481120" y="3126003"/>
            <a:ext cx="912429" cy="830997"/>
          </a:xfrm>
          <a:prstGeom prst="rect">
            <a:avLst/>
          </a:prstGeom>
          <a:noFill/>
        </p:spPr>
        <p:txBody>
          <a:bodyPr wrap="none" rtlCol="0">
            <a:spAutoFit/>
          </a:bodyPr>
          <a:lstStyle/>
          <a:p>
            <a:r>
              <a:rPr lang="en-US" sz="2400" b="1" dirty="0"/>
              <a:t>11</a:t>
            </a:r>
          </a:p>
          <a:p>
            <a:r>
              <a:rPr lang="en-US" sz="2400" b="1" dirty="0"/>
              <a:t>(10%)</a:t>
            </a:r>
          </a:p>
        </p:txBody>
      </p:sp>
      <p:sp>
        <p:nvSpPr>
          <p:cNvPr id="18" name="TextBox 17"/>
          <p:cNvSpPr txBox="1"/>
          <p:nvPr/>
        </p:nvSpPr>
        <p:spPr>
          <a:xfrm>
            <a:off x="685800" y="4572000"/>
            <a:ext cx="8053555" cy="830997"/>
          </a:xfrm>
          <a:prstGeom prst="rect">
            <a:avLst/>
          </a:prstGeom>
          <a:noFill/>
        </p:spPr>
        <p:txBody>
          <a:bodyPr wrap="square" rtlCol="0">
            <a:spAutoFit/>
          </a:bodyPr>
          <a:lstStyle/>
          <a:p>
            <a:r>
              <a:rPr lang="en-US" sz="2400" dirty="0"/>
              <a:t>Observed double crossovers = 4</a:t>
            </a:r>
          </a:p>
          <a:p>
            <a:r>
              <a:rPr lang="en-US" sz="2400" dirty="0"/>
              <a:t>Expected double crossovers = (0.233)(0.140)(107) = </a:t>
            </a:r>
            <a:r>
              <a:rPr lang="en-US" sz="2400" b="1" dirty="0"/>
              <a:t>3.49</a:t>
            </a:r>
          </a:p>
        </p:txBody>
      </p:sp>
      <p:sp>
        <p:nvSpPr>
          <p:cNvPr id="43" name="TextBox 42"/>
          <p:cNvSpPr txBox="1"/>
          <p:nvPr/>
        </p:nvSpPr>
        <p:spPr>
          <a:xfrm>
            <a:off x="4638404" y="3962400"/>
            <a:ext cx="3775393" cy="461665"/>
          </a:xfrm>
          <a:prstGeom prst="rect">
            <a:avLst/>
          </a:prstGeom>
          <a:noFill/>
        </p:spPr>
        <p:txBody>
          <a:bodyPr wrap="none" rtlCol="0">
            <a:spAutoFit/>
          </a:bodyPr>
          <a:lstStyle/>
          <a:p>
            <a:r>
              <a:rPr lang="en-US" sz="2400" dirty="0">
                <a:solidFill>
                  <a:srgbClr val="002060"/>
                </a:solidFill>
              </a:rPr>
              <a:t>r(</a:t>
            </a:r>
            <a:r>
              <a:rPr lang="en-US" sz="2400" i="1" dirty="0">
                <a:solidFill>
                  <a:srgbClr val="002060"/>
                </a:solidFill>
              </a:rPr>
              <a:t>B – C</a:t>
            </a:r>
            <a:r>
              <a:rPr lang="en-US" sz="2400" dirty="0">
                <a:solidFill>
                  <a:srgbClr val="002060"/>
                </a:solidFill>
              </a:rPr>
              <a:t>) = (11+4)/107 = </a:t>
            </a:r>
            <a:r>
              <a:rPr lang="en-US" sz="2400" dirty="0">
                <a:solidFill>
                  <a:srgbClr val="FF0000"/>
                </a:solidFill>
              </a:rPr>
              <a:t>0.140</a:t>
            </a:r>
          </a:p>
        </p:txBody>
      </p:sp>
      <p:sp>
        <p:nvSpPr>
          <p:cNvPr id="44" name="TextBox 43"/>
          <p:cNvSpPr txBox="1"/>
          <p:nvPr/>
        </p:nvSpPr>
        <p:spPr>
          <a:xfrm>
            <a:off x="262515" y="3968911"/>
            <a:ext cx="3793026" cy="461665"/>
          </a:xfrm>
          <a:prstGeom prst="rect">
            <a:avLst/>
          </a:prstGeom>
          <a:noFill/>
        </p:spPr>
        <p:txBody>
          <a:bodyPr wrap="none" rtlCol="0">
            <a:spAutoFit/>
          </a:bodyPr>
          <a:lstStyle/>
          <a:p>
            <a:r>
              <a:rPr lang="en-US" sz="2400" dirty="0">
                <a:solidFill>
                  <a:srgbClr val="002060"/>
                </a:solidFill>
              </a:rPr>
              <a:t>r(</a:t>
            </a:r>
            <a:r>
              <a:rPr lang="en-US" sz="2400" i="1" dirty="0">
                <a:solidFill>
                  <a:srgbClr val="002060"/>
                </a:solidFill>
              </a:rPr>
              <a:t>A – B</a:t>
            </a:r>
            <a:r>
              <a:rPr lang="en-US" sz="2400" dirty="0">
                <a:solidFill>
                  <a:srgbClr val="002060"/>
                </a:solidFill>
              </a:rPr>
              <a:t>) = (21+4)/107 = </a:t>
            </a:r>
            <a:r>
              <a:rPr lang="en-US" sz="2400" dirty="0">
                <a:solidFill>
                  <a:srgbClr val="FF0000"/>
                </a:solidFill>
              </a:rPr>
              <a:t>0.233</a:t>
            </a:r>
          </a:p>
        </p:txBody>
      </p:sp>
    </p:spTree>
    <p:extLst>
      <p:ext uri="{BB962C8B-B14F-4D97-AF65-F5344CB8AC3E}">
        <p14:creationId xmlns:p14="http://schemas.microsoft.com/office/powerpoint/2010/main" val="39265443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3631833" y="561561"/>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26" name="TextBox 25"/>
          <p:cNvSpPr txBox="1"/>
          <p:nvPr/>
        </p:nvSpPr>
        <p:spPr>
          <a:xfrm>
            <a:off x="1366320" y="563188"/>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22" name="TextBox 21"/>
          <p:cNvSpPr txBox="1"/>
          <p:nvPr/>
        </p:nvSpPr>
        <p:spPr>
          <a:xfrm>
            <a:off x="7914780" y="563188"/>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15" name="TextBox 14"/>
          <p:cNvSpPr txBox="1"/>
          <p:nvPr/>
        </p:nvSpPr>
        <p:spPr>
          <a:xfrm>
            <a:off x="2756449" y="563188"/>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4" name="TextBox 3"/>
          <p:cNvSpPr txBox="1"/>
          <p:nvPr/>
        </p:nvSpPr>
        <p:spPr>
          <a:xfrm>
            <a:off x="451920" y="563188"/>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5" name="TextBox 4"/>
          <p:cNvSpPr txBox="1"/>
          <p:nvPr/>
        </p:nvSpPr>
        <p:spPr>
          <a:xfrm>
            <a:off x="463612" y="1401388"/>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6" name="TextBox 5"/>
          <p:cNvSpPr txBox="1"/>
          <p:nvPr/>
        </p:nvSpPr>
        <p:spPr>
          <a:xfrm>
            <a:off x="468351" y="2201488"/>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7" name="TextBox 6"/>
          <p:cNvSpPr txBox="1"/>
          <p:nvPr/>
        </p:nvSpPr>
        <p:spPr>
          <a:xfrm>
            <a:off x="4808945" y="563188"/>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8" name="TextBox 7"/>
          <p:cNvSpPr txBox="1"/>
          <p:nvPr/>
        </p:nvSpPr>
        <p:spPr>
          <a:xfrm>
            <a:off x="1378012" y="1401388"/>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9" name="TextBox 8"/>
          <p:cNvSpPr txBox="1"/>
          <p:nvPr/>
        </p:nvSpPr>
        <p:spPr>
          <a:xfrm>
            <a:off x="1382751" y="2201488"/>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13" name="TextBox 12"/>
          <p:cNvSpPr txBox="1"/>
          <p:nvPr/>
        </p:nvSpPr>
        <p:spPr>
          <a:xfrm>
            <a:off x="2737920" y="1401388"/>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14" name="TextBox 13"/>
          <p:cNvSpPr txBox="1"/>
          <p:nvPr/>
        </p:nvSpPr>
        <p:spPr>
          <a:xfrm>
            <a:off x="2742659" y="2201488"/>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16" name="TextBox 15"/>
          <p:cNvSpPr txBox="1"/>
          <p:nvPr/>
        </p:nvSpPr>
        <p:spPr>
          <a:xfrm>
            <a:off x="4788790" y="1401388"/>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19" name="TextBox 18"/>
          <p:cNvSpPr txBox="1"/>
          <p:nvPr/>
        </p:nvSpPr>
        <p:spPr>
          <a:xfrm>
            <a:off x="6991163" y="563188"/>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20" name="TextBox 19"/>
          <p:cNvSpPr txBox="1"/>
          <p:nvPr/>
        </p:nvSpPr>
        <p:spPr>
          <a:xfrm>
            <a:off x="7931211" y="1340155"/>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23" name="TextBox 22"/>
          <p:cNvSpPr txBox="1"/>
          <p:nvPr/>
        </p:nvSpPr>
        <p:spPr>
          <a:xfrm>
            <a:off x="7016480" y="1350065"/>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24" name="TextBox 23"/>
          <p:cNvSpPr txBox="1"/>
          <p:nvPr/>
        </p:nvSpPr>
        <p:spPr>
          <a:xfrm>
            <a:off x="7931211" y="2201488"/>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21" name="TextBox 20"/>
          <p:cNvSpPr txBox="1"/>
          <p:nvPr/>
        </p:nvSpPr>
        <p:spPr>
          <a:xfrm>
            <a:off x="7007594" y="2201488"/>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25" name="TextBox 24"/>
          <p:cNvSpPr txBox="1"/>
          <p:nvPr/>
        </p:nvSpPr>
        <p:spPr>
          <a:xfrm>
            <a:off x="4814225" y="2201488"/>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28" name="TextBox 27"/>
          <p:cNvSpPr txBox="1"/>
          <p:nvPr/>
        </p:nvSpPr>
        <p:spPr>
          <a:xfrm>
            <a:off x="3649100" y="1394879"/>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29" name="TextBox 28"/>
          <p:cNvSpPr txBox="1"/>
          <p:nvPr/>
        </p:nvSpPr>
        <p:spPr>
          <a:xfrm>
            <a:off x="3653839" y="2194979"/>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30" name="TextBox 29"/>
          <p:cNvSpPr txBox="1"/>
          <p:nvPr/>
        </p:nvSpPr>
        <p:spPr>
          <a:xfrm>
            <a:off x="5774228" y="556679"/>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31" name="TextBox 30"/>
          <p:cNvSpPr txBox="1"/>
          <p:nvPr/>
        </p:nvSpPr>
        <p:spPr>
          <a:xfrm>
            <a:off x="5785920" y="1394879"/>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32" name="TextBox 31"/>
          <p:cNvSpPr txBox="1"/>
          <p:nvPr/>
        </p:nvSpPr>
        <p:spPr>
          <a:xfrm>
            <a:off x="5815737" y="2201488"/>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33" name="TextBox 32"/>
          <p:cNvSpPr txBox="1"/>
          <p:nvPr/>
        </p:nvSpPr>
        <p:spPr>
          <a:xfrm>
            <a:off x="1063491" y="3132514"/>
            <a:ext cx="912429" cy="830997"/>
          </a:xfrm>
          <a:prstGeom prst="rect">
            <a:avLst/>
          </a:prstGeom>
          <a:noFill/>
        </p:spPr>
        <p:txBody>
          <a:bodyPr wrap="none" rtlCol="0">
            <a:spAutoFit/>
          </a:bodyPr>
          <a:lstStyle/>
          <a:p>
            <a:r>
              <a:rPr lang="en-US" sz="2400" b="1" dirty="0"/>
              <a:t>71</a:t>
            </a:r>
          </a:p>
          <a:p>
            <a:r>
              <a:rPr lang="en-US" sz="2400" b="1" dirty="0"/>
              <a:t>(66%)</a:t>
            </a:r>
          </a:p>
        </p:txBody>
      </p:sp>
      <p:sp>
        <p:nvSpPr>
          <p:cNvPr id="34" name="TextBox 33"/>
          <p:cNvSpPr txBox="1"/>
          <p:nvPr/>
        </p:nvSpPr>
        <p:spPr>
          <a:xfrm>
            <a:off x="3349491" y="3132512"/>
            <a:ext cx="912429" cy="830997"/>
          </a:xfrm>
          <a:prstGeom prst="rect">
            <a:avLst/>
          </a:prstGeom>
          <a:noFill/>
        </p:spPr>
        <p:txBody>
          <a:bodyPr wrap="none" rtlCol="0">
            <a:spAutoFit/>
          </a:bodyPr>
          <a:lstStyle/>
          <a:p>
            <a:r>
              <a:rPr lang="en-US" sz="2400" b="1" dirty="0"/>
              <a:t>21</a:t>
            </a:r>
          </a:p>
          <a:p>
            <a:r>
              <a:rPr lang="en-US" sz="2400" b="1" dirty="0"/>
              <a:t>(20%)</a:t>
            </a:r>
          </a:p>
        </p:txBody>
      </p:sp>
      <p:sp>
        <p:nvSpPr>
          <p:cNvPr id="35" name="TextBox 34"/>
          <p:cNvSpPr txBox="1"/>
          <p:nvPr/>
        </p:nvSpPr>
        <p:spPr>
          <a:xfrm>
            <a:off x="7695982" y="3132511"/>
            <a:ext cx="756938" cy="830997"/>
          </a:xfrm>
          <a:prstGeom prst="rect">
            <a:avLst/>
          </a:prstGeom>
          <a:noFill/>
        </p:spPr>
        <p:txBody>
          <a:bodyPr wrap="none" rtlCol="0">
            <a:spAutoFit/>
          </a:bodyPr>
          <a:lstStyle/>
          <a:p>
            <a:r>
              <a:rPr lang="en-US" sz="2400" b="1" dirty="0"/>
              <a:t>4</a:t>
            </a:r>
          </a:p>
          <a:p>
            <a:r>
              <a:rPr lang="en-US" sz="2400" b="1" dirty="0"/>
              <a:t>(4%)</a:t>
            </a:r>
          </a:p>
        </p:txBody>
      </p:sp>
      <p:sp>
        <p:nvSpPr>
          <p:cNvPr id="36" name="TextBox 35"/>
          <p:cNvSpPr txBox="1"/>
          <p:nvPr/>
        </p:nvSpPr>
        <p:spPr>
          <a:xfrm>
            <a:off x="5481120" y="3126003"/>
            <a:ext cx="912429" cy="830997"/>
          </a:xfrm>
          <a:prstGeom prst="rect">
            <a:avLst/>
          </a:prstGeom>
          <a:noFill/>
        </p:spPr>
        <p:txBody>
          <a:bodyPr wrap="none" rtlCol="0">
            <a:spAutoFit/>
          </a:bodyPr>
          <a:lstStyle/>
          <a:p>
            <a:r>
              <a:rPr lang="en-US" sz="2400" b="1" dirty="0"/>
              <a:t>11</a:t>
            </a:r>
          </a:p>
          <a:p>
            <a:r>
              <a:rPr lang="en-US" sz="2400" b="1" dirty="0"/>
              <a:t>(10%)</a:t>
            </a:r>
          </a:p>
        </p:txBody>
      </p:sp>
      <p:sp>
        <p:nvSpPr>
          <p:cNvPr id="37" name="TextBox 36"/>
          <p:cNvSpPr txBox="1"/>
          <p:nvPr/>
        </p:nvSpPr>
        <p:spPr>
          <a:xfrm>
            <a:off x="4599209" y="3957000"/>
            <a:ext cx="4158511" cy="461665"/>
          </a:xfrm>
          <a:prstGeom prst="rect">
            <a:avLst/>
          </a:prstGeom>
          <a:noFill/>
        </p:spPr>
        <p:txBody>
          <a:bodyPr wrap="none" rtlCol="0">
            <a:spAutoFit/>
          </a:bodyPr>
          <a:lstStyle/>
          <a:p>
            <a:r>
              <a:rPr lang="en-US" sz="2400" dirty="0">
                <a:solidFill>
                  <a:srgbClr val="002060"/>
                </a:solidFill>
              </a:rPr>
              <a:t>D(</a:t>
            </a:r>
            <a:r>
              <a:rPr lang="en-US" sz="2400" i="1" dirty="0">
                <a:solidFill>
                  <a:srgbClr val="002060"/>
                </a:solidFill>
              </a:rPr>
              <a:t>B – C</a:t>
            </a:r>
            <a:r>
              <a:rPr lang="en-US" sz="2400" dirty="0">
                <a:solidFill>
                  <a:srgbClr val="002060"/>
                </a:solidFill>
              </a:rPr>
              <a:t>) = (11+4)/107 = 14.0 </a:t>
            </a:r>
            <a:r>
              <a:rPr lang="en-US" sz="2400" dirty="0" err="1">
                <a:solidFill>
                  <a:srgbClr val="002060"/>
                </a:solidFill>
              </a:rPr>
              <a:t>cM</a:t>
            </a:r>
            <a:endParaRPr lang="en-US" sz="2400" dirty="0">
              <a:solidFill>
                <a:srgbClr val="002060"/>
              </a:solidFill>
            </a:endParaRPr>
          </a:p>
        </p:txBody>
      </p:sp>
      <p:sp>
        <p:nvSpPr>
          <p:cNvPr id="38" name="TextBox 37"/>
          <p:cNvSpPr txBox="1"/>
          <p:nvPr/>
        </p:nvSpPr>
        <p:spPr>
          <a:xfrm>
            <a:off x="223320" y="3963511"/>
            <a:ext cx="4176143" cy="461665"/>
          </a:xfrm>
          <a:prstGeom prst="rect">
            <a:avLst/>
          </a:prstGeom>
          <a:noFill/>
        </p:spPr>
        <p:txBody>
          <a:bodyPr wrap="none" rtlCol="0">
            <a:spAutoFit/>
          </a:bodyPr>
          <a:lstStyle/>
          <a:p>
            <a:r>
              <a:rPr lang="en-US" sz="2400" dirty="0">
                <a:solidFill>
                  <a:srgbClr val="002060"/>
                </a:solidFill>
              </a:rPr>
              <a:t>D(</a:t>
            </a:r>
            <a:r>
              <a:rPr lang="en-US" sz="2400" i="1" dirty="0">
                <a:solidFill>
                  <a:srgbClr val="002060"/>
                </a:solidFill>
              </a:rPr>
              <a:t>A – B</a:t>
            </a:r>
            <a:r>
              <a:rPr lang="en-US" sz="2400" dirty="0">
                <a:solidFill>
                  <a:srgbClr val="002060"/>
                </a:solidFill>
              </a:rPr>
              <a:t>) = (21+4)/107 = 23.3 </a:t>
            </a:r>
            <a:r>
              <a:rPr lang="en-US" sz="2400" dirty="0" err="1">
                <a:solidFill>
                  <a:srgbClr val="002060"/>
                </a:solidFill>
              </a:rPr>
              <a:t>cM</a:t>
            </a:r>
            <a:endParaRPr lang="en-US" sz="2400" dirty="0">
              <a:solidFill>
                <a:srgbClr val="002060"/>
              </a:solidFill>
            </a:endParaRPr>
          </a:p>
        </p:txBody>
      </p:sp>
      <p:sp>
        <p:nvSpPr>
          <p:cNvPr id="18" name="TextBox 17"/>
          <p:cNvSpPr txBox="1"/>
          <p:nvPr/>
        </p:nvSpPr>
        <p:spPr>
          <a:xfrm>
            <a:off x="685800" y="4572000"/>
            <a:ext cx="8229600" cy="1200329"/>
          </a:xfrm>
          <a:prstGeom prst="rect">
            <a:avLst/>
          </a:prstGeom>
          <a:noFill/>
        </p:spPr>
        <p:txBody>
          <a:bodyPr wrap="square" rtlCol="0">
            <a:spAutoFit/>
          </a:bodyPr>
          <a:lstStyle/>
          <a:p>
            <a:r>
              <a:rPr lang="en-US" sz="2400" dirty="0"/>
              <a:t>Observed double crossovers = </a:t>
            </a:r>
            <a:r>
              <a:rPr lang="en-US" sz="2400" dirty="0">
                <a:solidFill>
                  <a:srgbClr val="FF0000"/>
                </a:solidFill>
              </a:rPr>
              <a:t>4</a:t>
            </a:r>
          </a:p>
          <a:p>
            <a:r>
              <a:rPr lang="en-US" sz="2400" dirty="0"/>
              <a:t>Expected double crossovers = (0.233)(0.140)(107) = </a:t>
            </a:r>
            <a:r>
              <a:rPr lang="en-US" sz="2400" dirty="0">
                <a:solidFill>
                  <a:srgbClr val="FF0000"/>
                </a:solidFill>
              </a:rPr>
              <a:t>3.49</a:t>
            </a:r>
          </a:p>
          <a:p>
            <a:r>
              <a:rPr lang="en-US" sz="2400" dirty="0"/>
              <a:t>Coefficient of coincidence (C) = </a:t>
            </a:r>
            <a:r>
              <a:rPr lang="en-US" sz="2400" dirty="0" err="1"/>
              <a:t>ObsDCO</a:t>
            </a:r>
            <a:r>
              <a:rPr lang="en-US" sz="2400" dirty="0"/>
              <a:t>/</a:t>
            </a:r>
            <a:r>
              <a:rPr lang="en-US" sz="2400" dirty="0" err="1"/>
              <a:t>ExpDCO</a:t>
            </a:r>
            <a:r>
              <a:rPr lang="en-US" sz="2400" dirty="0"/>
              <a:t> = 4/3.49 = </a:t>
            </a:r>
            <a:r>
              <a:rPr lang="en-US" sz="2400" b="1" dirty="0"/>
              <a:t>1.15</a:t>
            </a:r>
          </a:p>
        </p:txBody>
      </p:sp>
    </p:spTree>
    <p:extLst>
      <p:ext uri="{BB962C8B-B14F-4D97-AF65-F5344CB8AC3E}">
        <p14:creationId xmlns:p14="http://schemas.microsoft.com/office/powerpoint/2010/main" val="21467358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3631833" y="561561"/>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26" name="TextBox 25"/>
          <p:cNvSpPr txBox="1"/>
          <p:nvPr/>
        </p:nvSpPr>
        <p:spPr>
          <a:xfrm>
            <a:off x="1366320" y="563188"/>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22" name="TextBox 21"/>
          <p:cNvSpPr txBox="1"/>
          <p:nvPr/>
        </p:nvSpPr>
        <p:spPr>
          <a:xfrm>
            <a:off x="7914780" y="563188"/>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15" name="TextBox 14"/>
          <p:cNvSpPr txBox="1"/>
          <p:nvPr/>
        </p:nvSpPr>
        <p:spPr>
          <a:xfrm>
            <a:off x="2756449" y="563188"/>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4" name="TextBox 3"/>
          <p:cNvSpPr txBox="1"/>
          <p:nvPr/>
        </p:nvSpPr>
        <p:spPr>
          <a:xfrm>
            <a:off x="451920" y="563188"/>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5" name="TextBox 4"/>
          <p:cNvSpPr txBox="1"/>
          <p:nvPr/>
        </p:nvSpPr>
        <p:spPr>
          <a:xfrm>
            <a:off x="463612" y="1401388"/>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6" name="TextBox 5"/>
          <p:cNvSpPr txBox="1"/>
          <p:nvPr/>
        </p:nvSpPr>
        <p:spPr>
          <a:xfrm>
            <a:off x="468351" y="2201488"/>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7" name="TextBox 6"/>
          <p:cNvSpPr txBox="1"/>
          <p:nvPr/>
        </p:nvSpPr>
        <p:spPr>
          <a:xfrm>
            <a:off x="4808945" y="563188"/>
            <a:ext cx="824575"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a </a:t>
            </a:r>
          </a:p>
        </p:txBody>
      </p:sp>
      <p:sp>
        <p:nvSpPr>
          <p:cNvPr id="8" name="TextBox 7"/>
          <p:cNvSpPr txBox="1"/>
          <p:nvPr/>
        </p:nvSpPr>
        <p:spPr>
          <a:xfrm>
            <a:off x="1378012" y="1401388"/>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9" name="TextBox 8"/>
          <p:cNvSpPr txBox="1"/>
          <p:nvPr/>
        </p:nvSpPr>
        <p:spPr>
          <a:xfrm>
            <a:off x="1382751" y="2201488"/>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13" name="TextBox 12"/>
          <p:cNvSpPr txBox="1"/>
          <p:nvPr/>
        </p:nvSpPr>
        <p:spPr>
          <a:xfrm>
            <a:off x="2737920" y="1401388"/>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14" name="TextBox 13"/>
          <p:cNvSpPr txBox="1"/>
          <p:nvPr/>
        </p:nvSpPr>
        <p:spPr>
          <a:xfrm>
            <a:off x="2742659" y="2201488"/>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16" name="TextBox 15"/>
          <p:cNvSpPr txBox="1"/>
          <p:nvPr/>
        </p:nvSpPr>
        <p:spPr>
          <a:xfrm>
            <a:off x="4788790" y="1401388"/>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19" name="TextBox 18"/>
          <p:cNvSpPr txBox="1"/>
          <p:nvPr/>
        </p:nvSpPr>
        <p:spPr>
          <a:xfrm>
            <a:off x="6991163" y="563188"/>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20" name="TextBox 19"/>
          <p:cNvSpPr txBox="1"/>
          <p:nvPr/>
        </p:nvSpPr>
        <p:spPr>
          <a:xfrm>
            <a:off x="7931211" y="1340155"/>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23" name="TextBox 22"/>
          <p:cNvSpPr txBox="1"/>
          <p:nvPr/>
        </p:nvSpPr>
        <p:spPr>
          <a:xfrm>
            <a:off x="7016480" y="1350065"/>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24" name="TextBox 23"/>
          <p:cNvSpPr txBox="1"/>
          <p:nvPr/>
        </p:nvSpPr>
        <p:spPr>
          <a:xfrm>
            <a:off x="7931211" y="2201488"/>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21" name="TextBox 20"/>
          <p:cNvSpPr txBox="1"/>
          <p:nvPr/>
        </p:nvSpPr>
        <p:spPr>
          <a:xfrm>
            <a:off x="7007594" y="2201488"/>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25" name="TextBox 24"/>
          <p:cNvSpPr txBox="1"/>
          <p:nvPr/>
        </p:nvSpPr>
        <p:spPr>
          <a:xfrm>
            <a:off x="4814225" y="2201488"/>
            <a:ext cx="819295"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C </a:t>
            </a:r>
          </a:p>
        </p:txBody>
      </p:sp>
      <p:sp>
        <p:nvSpPr>
          <p:cNvPr id="28" name="TextBox 27"/>
          <p:cNvSpPr txBox="1"/>
          <p:nvPr/>
        </p:nvSpPr>
        <p:spPr>
          <a:xfrm>
            <a:off x="3649100" y="1394879"/>
            <a:ext cx="812883" cy="931024"/>
          </a:xfrm>
          <a:prstGeom prst="rect">
            <a:avLst/>
          </a:prstGeom>
          <a:solidFill>
            <a:srgbClr val="FF99CC"/>
          </a:solidFill>
          <a:ln>
            <a:solidFill>
              <a:schemeClr val="tx1"/>
            </a:solidFill>
          </a:ln>
        </p:spPr>
        <p:txBody>
          <a:bodyPr wrap="none" rtlCol="0">
            <a:normAutofit fontScale="55000" lnSpcReduction="20000"/>
          </a:bodyPr>
          <a:lstStyle/>
          <a:p>
            <a:r>
              <a:rPr lang="en-US" sz="11500" i="1" dirty="0"/>
              <a:t> b </a:t>
            </a:r>
          </a:p>
        </p:txBody>
      </p:sp>
      <p:sp>
        <p:nvSpPr>
          <p:cNvPr id="29" name="TextBox 28"/>
          <p:cNvSpPr txBox="1"/>
          <p:nvPr/>
        </p:nvSpPr>
        <p:spPr>
          <a:xfrm>
            <a:off x="3653839" y="2194979"/>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30" name="TextBox 29"/>
          <p:cNvSpPr txBox="1"/>
          <p:nvPr/>
        </p:nvSpPr>
        <p:spPr>
          <a:xfrm>
            <a:off x="5774228" y="556679"/>
            <a:ext cx="852157"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A </a:t>
            </a:r>
          </a:p>
        </p:txBody>
      </p:sp>
      <p:sp>
        <p:nvSpPr>
          <p:cNvPr id="31" name="TextBox 30"/>
          <p:cNvSpPr txBox="1"/>
          <p:nvPr/>
        </p:nvSpPr>
        <p:spPr>
          <a:xfrm>
            <a:off x="5785920" y="1394879"/>
            <a:ext cx="826509" cy="931024"/>
          </a:xfrm>
          <a:prstGeom prst="rect">
            <a:avLst/>
          </a:prstGeom>
          <a:solidFill>
            <a:srgbClr val="FFFF00"/>
          </a:solidFill>
          <a:ln>
            <a:solidFill>
              <a:schemeClr val="tx1"/>
            </a:solidFill>
          </a:ln>
        </p:spPr>
        <p:txBody>
          <a:bodyPr wrap="none" rtlCol="0">
            <a:normAutofit fontScale="55000" lnSpcReduction="20000"/>
          </a:bodyPr>
          <a:lstStyle/>
          <a:p>
            <a:r>
              <a:rPr lang="en-US" sz="11500" i="1" dirty="0"/>
              <a:t> B </a:t>
            </a:r>
          </a:p>
        </p:txBody>
      </p:sp>
      <p:sp>
        <p:nvSpPr>
          <p:cNvPr id="32" name="TextBox 31"/>
          <p:cNvSpPr txBox="1"/>
          <p:nvPr/>
        </p:nvSpPr>
        <p:spPr>
          <a:xfrm>
            <a:off x="5815737" y="2201488"/>
            <a:ext cx="808144" cy="931024"/>
          </a:xfrm>
          <a:prstGeom prst="rect">
            <a:avLst/>
          </a:prstGeom>
          <a:solidFill>
            <a:srgbClr val="FF99CC"/>
          </a:solidFill>
          <a:ln>
            <a:solidFill>
              <a:schemeClr val="tx1"/>
            </a:solidFill>
          </a:ln>
        </p:spPr>
        <p:txBody>
          <a:bodyPr wrap="square" rtlCol="0">
            <a:normAutofit fontScale="55000" lnSpcReduction="20000"/>
          </a:bodyPr>
          <a:lstStyle/>
          <a:p>
            <a:r>
              <a:rPr lang="en-US" sz="11500" i="1" dirty="0"/>
              <a:t> c  </a:t>
            </a:r>
          </a:p>
        </p:txBody>
      </p:sp>
      <p:sp>
        <p:nvSpPr>
          <p:cNvPr id="33" name="TextBox 32"/>
          <p:cNvSpPr txBox="1"/>
          <p:nvPr/>
        </p:nvSpPr>
        <p:spPr>
          <a:xfrm>
            <a:off x="1063491" y="3132514"/>
            <a:ext cx="912429" cy="830997"/>
          </a:xfrm>
          <a:prstGeom prst="rect">
            <a:avLst/>
          </a:prstGeom>
          <a:noFill/>
        </p:spPr>
        <p:txBody>
          <a:bodyPr wrap="none" rtlCol="0">
            <a:spAutoFit/>
          </a:bodyPr>
          <a:lstStyle/>
          <a:p>
            <a:r>
              <a:rPr lang="en-US" sz="2400" b="1" dirty="0"/>
              <a:t>71</a:t>
            </a:r>
          </a:p>
          <a:p>
            <a:r>
              <a:rPr lang="en-US" sz="2400" b="1" dirty="0"/>
              <a:t>(66%)</a:t>
            </a:r>
          </a:p>
        </p:txBody>
      </p:sp>
      <p:sp>
        <p:nvSpPr>
          <p:cNvPr id="34" name="TextBox 33"/>
          <p:cNvSpPr txBox="1"/>
          <p:nvPr/>
        </p:nvSpPr>
        <p:spPr>
          <a:xfrm>
            <a:off x="3349491" y="3132512"/>
            <a:ext cx="912429" cy="830997"/>
          </a:xfrm>
          <a:prstGeom prst="rect">
            <a:avLst/>
          </a:prstGeom>
          <a:noFill/>
        </p:spPr>
        <p:txBody>
          <a:bodyPr wrap="none" rtlCol="0">
            <a:spAutoFit/>
          </a:bodyPr>
          <a:lstStyle/>
          <a:p>
            <a:r>
              <a:rPr lang="en-US" sz="2400" b="1" dirty="0"/>
              <a:t>21</a:t>
            </a:r>
          </a:p>
          <a:p>
            <a:r>
              <a:rPr lang="en-US" sz="2400" b="1" dirty="0"/>
              <a:t>(20%)</a:t>
            </a:r>
          </a:p>
        </p:txBody>
      </p:sp>
      <p:sp>
        <p:nvSpPr>
          <p:cNvPr id="35" name="TextBox 34"/>
          <p:cNvSpPr txBox="1"/>
          <p:nvPr/>
        </p:nvSpPr>
        <p:spPr>
          <a:xfrm>
            <a:off x="7695982" y="3132511"/>
            <a:ext cx="756938" cy="830997"/>
          </a:xfrm>
          <a:prstGeom prst="rect">
            <a:avLst/>
          </a:prstGeom>
          <a:noFill/>
        </p:spPr>
        <p:txBody>
          <a:bodyPr wrap="none" rtlCol="0">
            <a:spAutoFit/>
          </a:bodyPr>
          <a:lstStyle/>
          <a:p>
            <a:r>
              <a:rPr lang="en-US" sz="2400" b="1" dirty="0"/>
              <a:t>4</a:t>
            </a:r>
          </a:p>
          <a:p>
            <a:r>
              <a:rPr lang="en-US" sz="2400" b="1" dirty="0"/>
              <a:t>(4%)</a:t>
            </a:r>
          </a:p>
        </p:txBody>
      </p:sp>
      <p:sp>
        <p:nvSpPr>
          <p:cNvPr id="36" name="TextBox 35"/>
          <p:cNvSpPr txBox="1"/>
          <p:nvPr/>
        </p:nvSpPr>
        <p:spPr>
          <a:xfrm>
            <a:off x="5481120" y="3126003"/>
            <a:ext cx="912429" cy="830997"/>
          </a:xfrm>
          <a:prstGeom prst="rect">
            <a:avLst/>
          </a:prstGeom>
          <a:noFill/>
        </p:spPr>
        <p:txBody>
          <a:bodyPr wrap="none" rtlCol="0">
            <a:spAutoFit/>
          </a:bodyPr>
          <a:lstStyle/>
          <a:p>
            <a:r>
              <a:rPr lang="en-US" sz="2400" b="1" dirty="0"/>
              <a:t>11</a:t>
            </a:r>
          </a:p>
          <a:p>
            <a:r>
              <a:rPr lang="en-US" sz="2400" b="1" dirty="0"/>
              <a:t>(10%)</a:t>
            </a:r>
          </a:p>
        </p:txBody>
      </p:sp>
      <p:sp>
        <p:nvSpPr>
          <p:cNvPr id="37" name="TextBox 36"/>
          <p:cNvSpPr txBox="1"/>
          <p:nvPr/>
        </p:nvSpPr>
        <p:spPr>
          <a:xfrm>
            <a:off x="4599209" y="3957000"/>
            <a:ext cx="4158511" cy="461665"/>
          </a:xfrm>
          <a:prstGeom prst="rect">
            <a:avLst/>
          </a:prstGeom>
          <a:noFill/>
        </p:spPr>
        <p:txBody>
          <a:bodyPr wrap="none" rtlCol="0">
            <a:spAutoFit/>
          </a:bodyPr>
          <a:lstStyle/>
          <a:p>
            <a:r>
              <a:rPr lang="en-US" sz="2400" dirty="0">
                <a:solidFill>
                  <a:srgbClr val="002060"/>
                </a:solidFill>
              </a:rPr>
              <a:t>D(</a:t>
            </a:r>
            <a:r>
              <a:rPr lang="en-US" sz="2400" i="1" dirty="0">
                <a:solidFill>
                  <a:srgbClr val="002060"/>
                </a:solidFill>
              </a:rPr>
              <a:t>B – C</a:t>
            </a:r>
            <a:r>
              <a:rPr lang="en-US" sz="2400" dirty="0">
                <a:solidFill>
                  <a:srgbClr val="002060"/>
                </a:solidFill>
              </a:rPr>
              <a:t>) = (11+4)/107 = 14.0 </a:t>
            </a:r>
            <a:r>
              <a:rPr lang="en-US" sz="2400" dirty="0" err="1">
                <a:solidFill>
                  <a:srgbClr val="002060"/>
                </a:solidFill>
              </a:rPr>
              <a:t>cM</a:t>
            </a:r>
            <a:endParaRPr lang="en-US" sz="2400" dirty="0">
              <a:solidFill>
                <a:srgbClr val="002060"/>
              </a:solidFill>
            </a:endParaRPr>
          </a:p>
        </p:txBody>
      </p:sp>
      <p:sp>
        <p:nvSpPr>
          <p:cNvPr id="38" name="TextBox 37"/>
          <p:cNvSpPr txBox="1"/>
          <p:nvPr/>
        </p:nvSpPr>
        <p:spPr>
          <a:xfrm>
            <a:off x="223320" y="3963511"/>
            <a:ext cx="4176143" cy="461665"/>
          </a:xfrm>
          <a:prstGeom prst="rect">
            <a:avLst/>
          </a:prstGeom>
          <a:noFill/>
        </p:spPr>
        <p:txBody>
          <a:bodyPr wrap="none" rtlCol="0">
            <a:spAutoFit/>
          </a:bodyPr>
          <a:lstStyle/>
          <a:p>
            <a:r>
              <a:rPr lang="en-US" sz="2400" dirty="0">
                <a:solidFill>
                  <a:srgbClr val="002060"/>
                </a:solidFill>
              </a:rPr>
              <a:t>D(</a:t>
            </a:r>
            <a:r>
              <a:rPr lang="en-US" sz="2400" i="1" dirty="0">
                <a:solidFill>
                  <a:srgbClr val="002060"/>
                </a:solidFill>
              </a:rPr>
              <a:t>A – B</a:t>
            </a:r>
            <a:r>
              <a:rPr lang="en-US" sz="2400" dirty="0">
                <a:solidFill>
                  <a:srgbClr val="002060"/>
                </a:solidFill>
              </a:rPr>
              <a:t>) = (21+4)/107 = 23.3 </a:t>
            </a:r>
            <a:r>
              <a:rPr lang="en-US" sz="2400" dirty="0" err="1">
                <a:solidFill>
                  <a:srgbClr val="002060"/>
                </a:solidFill>
              </a:rPr>
              <a:t>cM</a:t>
            </a:r>
            <a:endParaRPr lang="en-US" sz="2400" dirty="0">
              <a:solidFill>
                <a:srgbClr val="002060"/>
              </a:solidFill>
            </a:endParaRPr>
          </a:p>
        </p:txBody>
      </p:sp>
      <p:sp>
        <p:nvSpPr>
          <p:cNvPr id="18" name="TextBox 17"/>
          <p:cNvSpPr txBox="1"/>
          <p:nvPr/>
        </p:nvSpPr>
        <p:spPr>
          <a:xfrm>
            <a:off x="685800" y="4572000"/>
            <a:ext cx="8229600" cy="1569660"/>
          </a:xfrm>
          <a:prstGeom prst="rect">
            <a:avLst/>
          </a:prstGeom>
          <a:noFill/>
        </p:spPr>
        <p:txBody>
          <a:bodyPr wrap="square" rtlCol="0">
            <a:spAutoFit/>
          </a:bodyPr>
          <a:lstStyle/>
          <a:p>
            <a:r>
              <a:rPr lang="en-US" sz="2400" dirty="0"/>
              <a:t>Observed double crossovers = 4</a:t>
            </a:r>
          </a:p>
          <a:p>
            <a:r>
              <a:rPr lang="en-US" sz="2400" dirty="0"/>
              <a:t>Expected double crossovers = (0.233)(0.140)(107) = 3.49</a:t>
            </a:r>
          </a:p>
          <a:p>
            <a:r>
              <a:rPr lang="en-US" sz="2400" dirty="0"/>
              <a:t>Coefficient of coincidence (C) = </a:t>
            </a:r>
            <a:r>
              <a:rPr lang="en-US" sz="2400" dirty="0" err="1"/>
              <a:t>ObsDCO</a:t>
            </a:r>
            <a:r>
              <a:rPr lang="en-US" sz="2400" dirty="0"/>
              <a:t>/</a:t>
            </a:r>
            <a:r>
              <a:rPr lang="en-US" sz="2400" dirty="0" err="1"/>
              <a:t>ExpDCO</a:t>
            </a:r>
            <a:r>
              <a:rPr lang="en-US" sz="2400" dirty="0"/>
              <a:t> = 4/3.49 = </a:t>
            </a:r>
            <a:r>
              <a:rPr lang="en-US" sz="2400" dirty="0">
                <a:solidFill>
                  <a:srgbClr val="FF0000"/>
                </a:solidFill>
              </a:rPr>
              <a:t>1.15</a:t>
            </a:r>
          </a:p>
          <a:p>
            <a:r>
              <a:rPr lang="en-US" sz="2400" dirty="0"/>
              <a:t>Interference (I) = 1-C = 1-1.15 = </a:t>
            </a:r>
            <a:r>
              <a:rPr lang="en-US" sz="2400" b="1" dirty="0"/>
              <a:t>-0.15</a:t>
            </a:r>
          </a:p>
        </p:txBody>
      </p:sp>
    </p:spTree>
    <p:extLst>
      <p:ext uri="{BB962C8B-B14F-4D97-AF65-F5344CB8AC3E}">
        <p14:creationId xmlns:p14="http://schemas.microsoft.com/office/powerpoint/2010/main" val="29816021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Double crossovers</a:t>
            </a:r>
          </a:p>
        </p:txBody>
      </p:sp>
      <p:sp>
        <p:nvSpPr>
          <p:cNvPr id="3" name="Content Placeholder 2"/>
          <p:cNvSpPr>
            <a:spLocks noGrp="1"/>
          </p:cNvSpPr>
          <p:nvPr>
            <p:ph idx="1"/>
          </p:nvPr>
        </p:nvSpPr>
        <p:spPr>
          <a:xfrm>
            <a:off x="457200" y="1325100"/>
            <a:ext cx="3733800" cy="4801063"/>
          </a:xfrm>
        </p:spPr>
        <p:txBody>
          <a:bodyPr>
            <a:normAutofit fontScale="92500" lnSpcReduction="10000"/>
          </a:bodyPr>
          <a:lstStyle/>
          <a:p>
            <a:r>
              <a:rPr lang="en-US" dirty="0"/>
              <a:t>Note that double crossovers:</a:t>
            </a:r>
          </a:p>
          <a:p>
            <a:pPr lvl="1"/>
            <a:r>
              <a:rPr lang="en-US" dirty="0"/>
              <a:t>result in </a:t>
            </a:r>
            <a:r>
              <a:rPr lang="en-US" i="1" dirty="0"/>
              <a:t>parental</a:t>
            </a:r>
            <a:r>
              <a:rPr lang="en-US" dirty="0"/>
              <a:t> combinations of </a:t>
            </a:r>
            <a:r>
              <a:rPr lang="en-US" i="1" dirty="0"/>
              <a:t>AC</a:t>
            </a:r>
            <a:r>
              <a:rPr lang="en-US" dirty="0"/>
              <a:t> and </a:t>
            </a:r>
            <a:r>
              <a:rPr lang="en-US" i="1" dirty="0"/>
              <a:t>ac</a:t>
            </a:r>
            <a:r>
              <a:rPr lang="en-US" dirty="0"/>
              <a:t>.</a:t>
            </a:r>
          </a:p>
          <a:p>
            <a:pPr lvl="1"/>
            <a:r>
              <a:rPr lang="en-US" dirty="0"/>
              <a:t>result in middle gene being recombinant with both flanking genes.</a:t>
            </a:r>
          </a:p>
          <a:p>
            <a:pPr lvl="1"/>
            <a:r>
              <a:rPr lang="en-US" dirty="0"/>
              <a:t>This principle can be used to find the order of genes!!</a:t>
            </a:r>
          </a:p>
        </p:txBody>
      </p:sp>
      <p:grpSp>
        <p:nvGrpSpPr>
          <p:cNvPr id="10" name="Group 9"/>
          <p:cNvGrpSpPr>
            <a:grpSpLocks noChangeAspect="1"/>
          </p:cNvGrpSpPr>
          <p:nvPr/>
        </p:nvGrpSpPr>
        <p:grpSpPr>
          <a:xfrm>
            <a:off x="4774286" y="1325100"/>
            <a:ext cx="3895680" cy="5138648"/>
            <a:chOff x="6400800" y="3187148"/>
            <a:chExt cx="1947840" cy="2569324"/>
          </a:xfrm>
        </p:grpSpPr>
        <p:sp>
          <p:nvSpPr>
            <p:cNvPr id="4" name="TextBox 3"/>
            <p:cNvSpPr txBox="1"/>
            <p:nvPr/>
          </p:nvSpPr>
          <p:spPr>
            <a:xfrm>
              <a:off x="7505700" y="3187148"/>
              <a:ext cx="824575" cy="931024"/>
            </a:xfrm>
            <a:prstGeom prst="rect">
              <a:avLst/>
            </a:prstGeom>
            <a:solidFill>
              <a:srgbClr val="FF99CC"/>
            </a:solidFill>
            <a:ln>
              <a:solidFill>
                <a:schemeClr val="tx1"/>
              </a:solidFill>
            </a:ln>
          </p:spPr>
          <p:txBody>
            <a:bodyPr wrap="square" rtlCol="0">
              <a:normAutofit/>
            </a:bodyPr>
            <a:lstStyle/>
            <a:p>
              <a:r>
                <a:rPr lang="en-US" sz="11500" i="1" dirty="0"/>
                <a:t> a </a:t>
              </a:r>
            </a:p>
          </p:txBody>
        </p:sp>
        <p:sp>
          <p:nvSpPr>
            <p:cNvPr id="5" name="TextBox 4"/>
            <p:cNvSpPr txBox="1"/>
            <p:nvPr/>
          </p:nvSpPr>
          <p:spPr>
            <a:xfrm>
              <a:off x="6400800" y="3187148"/>
              <a:ext cx="852157" cy="931024"/>
            </a:xfrm>
            <a:prstGeom prst="rect">
              <a:avLst/>
            </a:prstGeom>
            <a:solidFill>
              <a:srgbClr val="FFFF00"/>
            </a:solidFill>
            <a:ln>
              <a:solidFill>
                <a:schemeClr val="tx1"/>
              </a:solidFill>
            </a:ln>
          </p:spPr>
          <p:txBody>
            <a:bodyPr wrap="none" rtlCol="0">
              <a:normAutofit/>
            </a:bodyPr>
            <a:lstStyle/>
            <a:p>
              <a:r>
                <a:rPr lang="en-US" sz="11500" i="1" dirty="0"/>
                <a:t> A </a:t>
              </a:r>
            </a:p>
          </p:txBody>
        </p:sp>
        <p:sp>
          <p:nvSpPr>
            <p:cNvPr id="6" name="TextBox 5"/>
            <p:cNvSpPr txBox="1"/>
            <p:nvPr/>
          </p:nvSpPr>
          <p:spPr>
            <a:xfrm>
              <a:off x="7522131" y="3964115"/>
              <a:ext cx="826509" cy="931024"/>
            </a:xfrm>
            <a:prstGeom prst="rect">
              <a:avLst/>
            </a:prstGeom>
            <a:solidFill>
              <a:srgbClr val="FFFF00"/>
            </a:solidFill>
            <a:ln>
              <a:solidFill>
                <a:schemeClr val="tx1"/>
              </a:solidFill>
            </a:ln>
          </p:spPr>
          <p:txBody>
            <a:bodyPr wrap="none" rtlCol="0">
              <a:normAutofit/>
            </a:bodyPr>
            <a:lstStyle/>
            <a:p>
              <a:r>
                <a:rPr lang="en-US" sz="11500" i="1" dirty="0"/>
                <a:t> B </a:t>
              </a:r>
            </a:p>
          </p:txBody>
        </p:sp>
        <p:sp>
          <p:nvSpPr>
            <p:cNvPr id="7" name="TextBox 6"/>
            <p:cNvSpPr txBox="1"/>
            <p:nvPr/>
          </p:nvSpPr>
          <p:spPr>
            <a:xfrm>
              <a:off x="6426117" y="3974025"/>
              <a:ext cx="812883" cy="931024"/>
            </a:xfrm>
            <a:prstGeom prst="rect">
              <a:avLst/>
            </a:prstGeom>
            <a:solidFill>
              <a:srgbClr val="FF99CC"/>
            </a:solidFill>
            <a:ln>
              <a:solidFill>
                <a:schemeClr val="tx1"/>
              </a:solidFill>
            </a:ln>
          </p:spPr>
          <p:txBody>
            <a:bodyPr wrap="none" rtlCol="0">
              <a:normAutofit/>
            </a:bodyPr>
            <a:lstStyle/>
            <a:p>
              <a:r>
                <a:rPr lang="en-US" sz="11500" i="1" dirty="0"/>
                <a:t> b </a:t>
              </a:r>
            </a:p>
          </p:txBody>
        </p:sp>
        <p:sp>
          <p:nvSpPr>
            <p:cNvPr id="8" name="TextBox 7"/>
            <p:cNvSpPr txBox="1"/>
            <p:nvPr/>
          </p:nvSpPr>
          <p:spPr>
            <a:xfrm>
              <a:off x="7522131" y="4825448"/>
              <a:ext cx="808144" cy="931024"/>
            </a:xfrm>
            <a:prstGeom prst="rect">
              <a:avLst/>
            </a:prstGeom>
            <a:solidFill>
              <a:srgbClr val="FF99CC"/>
            </a:solidFill>
            <a:ln>
              <a:solidFill>
                <a:schemeClr val="tx1"/>
              </a:solidFill>
            </a:ln>
          </p:spPr>
          <p:txBody>
            <a:bodyPr wrap="square" rtlCol="0">
              <a:normAutofit/>
            </a:bodyPr>
            <a:lstStyle/>
            <a:p>
              <a:r>
                <a:rPr lang="en-US" sz="11500" i="1" dirty="0"/>
                <a:t> c  </a:t>
              </a:r>
            </a:p>
          </p:txBody>
        </p:sp>
        <p:sp>
          <p:nvSpPr>
            <p:cNvPr id="9" name="TextBox 8"/>
            <p:cNvSpPr txBox="1"/>
            <p:nvPr/>
          </p:nvSpPr>
          <p:spPr>
            <a:xfrm>
              <a:off x="6417231" y="4825448"/>
              <a:ext cx="819295" cy="931024"/>
            </a:xfrm>
            <a:prstGeom prst="rect">
              <a:avLst/>
            </a:prstGeom>
            <a:solidFill>
              <a:srgbClr val="FFFF00"/>
            </a:solidFill>
            <a:ln>
              <a:solidFill>
                <a:schemeClr val="tx1"/>
              </a:solidFill>
            </a:ln>
          </p:spPr>
          <p:txBody>
            <a:bodyPr wrap="none" rtlCol="0">
              <a:normAutofit/>
            </a:bodyPr>
            <a:lstStyle/>
            <a:p>
              <a:r>
                <a:rPr lang="en-US" sz="11500" i="1" dirty="0"/>
                <a:t> C </a:t>
              </a:r>
            </a:p>
          </p:txBody>
        </p:sp>
      </p:grpSp>
    </p:spTree>
    <p:extLst>
      <p:ext uri="{BB962C8B-B14F-4D97-AF65-F5344CB8AC3E}">
        <p14:creationId xmlns:p14="http://schemas.microsoft.com/office/powerpoint/2010/main" val="17966343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1123</TotalTime>
  <Words>1911</Words>
  <Application>Microsoft Office PowerPoint</Application>
  <PresentationFormat>On-screen Show (4:3)</PresentationFormat>
  <Paragraphs>540</Paragraphs>
  <Slides>22</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Crossing over/gamete formation exercise</vt:lpstr>
      <vt:lpstr>Crossing over/gamete formation exercise</vt:lpstr>
      <vt:lpstr>Crossing over/gamete formation exercise</vt:lpstr>
      <vt:lpstr>Crossing over/gamete formation exercise</vt:lpstr>
      <vt:lpstr>Crossing over/gamete formation exercise</vt:lpstr>
      <vt:lpstr>Clicker question</vt:lpstr>
      <vt:lpstr>Clicker question</vt:lpstr>
      <vt:lpstr>Clicker question</vt:lpstr>
      <vt:lpstr>Clicker question</vt:lpstr>
      <vt:lpstr>Double crossovers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Double crossovers</vt:lpstr>
    </vt:vector>
  </TitlesOfParts>
  <Company>UNC Greensboro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Remington</dc:creator>
  <cp:lastModifiedBy>David Remington</cp:lastModifiedBy>
  <cp:revision>66</cp:revision>
  <cp:lastPrinted>2013-09-10T12:53:47Z</cp:lastPrinted>
  <dcterms:created xsi:type="dcterms:W3CDTF">2013-08-16T18:39:11Z</dcterms:created>
  <dcterms:modified xsi:type="dcterms:W3CDTF">2017-05-16T17:05:33Z</dcterms:modified>
</cp:coreProperties>
</file>